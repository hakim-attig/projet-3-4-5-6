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45"/>
  </p:notesMasterIdLst>
  <p:sldIdLst>
    <p:sldId id="291" r:id="rId3"/>
    <p:sldId id="293" r:id="rId4"/>
    <p:sldId id="366" r:id="rId5"/>
    <p:sldId id="295" r:id="rId6"/>
    <p:sldId id="362" r:id="rId7"/>
    <p:sldId id="363" r:id="rId8"/>
    <p:sldId id="364" r:id="rId9"/>
    <p:sldId id="365" r:id="rId10"/>
    <p:sldId id="368" r:id="rId11"/>
    <p:sldId id="372" r:id="rId12"/>
    <p:sldId id="298" r:id="rId13"/>
    <p:sldId id="371" r:id="rId14"/>
    <p:sldId id="369" r:id="rId15"/>
    <p:sldId id="370" r:id="rId16"/>
    <p:sldId id="373" r:id="rId17"/>
    <p:sldId id="374" r:id="rId18"/>
    <p:sldId id="375" r:id="rId19"/>
    <p:sldId id="376" r:id="rId20"/>
    <p:sldId id="377" r:id="rId21"/>
    <p:sldId id="378" r:id="rId22"/>
    <p:sldId id="379" r:id="rId23"/>
    <p:sldId id="380" r:id="rId24"/>
    <p:sldId id="386" r:id="rId25"/>
    <p:sldId id="387" r:id="rId26"/>
    <p:sldId id="385" r:id="rId27"/>
    <p:sldId id="384" r:id="rId28"/>
    <p:sldId id="382" r:id="rId29"/>
    <p:sldId id="388" r:id="rId30"/>
    <p:sldId id="389" r:id="rId31"/>
    <p:sldId id="390" r:id="rId32"/>
    <p:sldId id="391" r:id="rId33"/>
    <p:sldId id="392" r:id="rId34"/>
    <p:sldId id="402" r:id="rId35"/>
    <p:sldId id="397" r:id="rId36"/>
    <p:sldId id="393" r:id="rId37"/>
    <p:sldId id="394" r:id="rId38"/>
    <p:sldId id="396" r:id="rId39"/>
    <p:sldId id="399" r:id="rId40"/>
    <p:sldId id="403" r:id="rId41"/>
    <p:sldId id="395" r:id="rId42"/>
    <p:sldId id="400" r:id="rId43"/>
    <p:sldId id="401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3F780D-467F-4B30-B938-2E4C1FA796E6}" v="5" dt="2025-06-09T13:48:28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4508" autoAdjust="0"/>
  </p:normalViewPr>
  <p:slideViewPr>
    <p:cSldViewPr snapToGrid="0">
      <p:cViewPr varScale="1">
        <p:scale>
          <a:sx n="60" d="100"/>
          <a:sy n="60" d="100"/>
        </p:scale>
        <p:origin x="247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n Sol" userId="8fc6c4da0649c2dd" providerId="LiveId" clId="{573F780D-467F-4B30-B938-2E4C1FA796E6}"/>
    <pc:docChg chg="undo custSel addSld delSld modSld">
      <pc:chgData name="Marion Sol" userId="8fc6c4da0649c2dd" providerId="LiveId" clId="{573F780D-467F-4B30-B938-2E4C1FA796E6}" dt="2025-06-09T13:51:38.878" v="17" actId="47"/>
      <pc:docMkLst>
        <pc:docMk/>
      </pc:docMkLst>
      <pc:sldChg chg="add del">
        <pc:chgData name="Marion Sol" userId="8fc6c4da0649c2dd" providerId="LiveId" clId="{573F780D-467F-4B30-B938-2E4C1FA796E6}" dt="2025-06-09T13:51:38.878" v="17" actId="47"/>
        <pc:sldMkLst>
          <pc:docMk/>
          <pc:sldMk cId="4224405397" sldId="400"/>
        </pc:sldMkLst>
      </pc:sldChg>
      <pc:sldChg chg="addSp delSp modSp add mod">
        <pc:chgData name="Marion Sol" userId="8fc6c4da0649c2dd" providerId="LiveId" clId="{573F780D-467F-4B30-B938-2E4C1FA796E6}" dt="2025-06-09T13:44:35.498" v="9" actId="1076"/>
        <pc:sldMkLst>
          <pc:docMk/>
          <pc:sldMk cId="3543824080" sldId="402"/>
        </pc:sldMkLst>
        <pc:picChg chg="add del">
          <ac:chgData name="Marion Sol" userId="8fc6c4da0649c2dd" providerId="LiveId" clId="{573F780D-467F-4B30-B938-2E4C1FA796E6}" dt="2025-06-09T13:44:31.071" v="7" actId="478"/>
          <ac:picMkLst>
            <pc:docMk/>
            <pc:sldMk cId="3543824080" sldId="402"/>
            <ac:picMk id="4" creationId="{32830ECE-D633-EBE8-58B5-4E2534F1BEFA}"/>
          </ac:picMkLst>
        </pc:picChg>
        <pc:picChg chg="add del mod">
          <ac:chgData name="Marion Sol" userId="8fc6c4da0649c2dd" providerId="LiveId" clId="{573F780D-467F-4B30-B938-2E4C1FA796E6}" dt="2025-06-09T13:44:30.514" v="6" actId="22"/>
          <ac:picMkLst>
            <pc:docMk/>
            <pc:sldMk cId="3543824080" sldId="402"/>
            <ac:picMk id="6" creationId="{BC18F40A-7AA3-6DF1-81E6-48C875CFB67C}"/>
          </ac:picMkLst>
        </pc:picChg>
        <pc:picChg chg="add mod">
          <ac:chgData name="Marion Sol" userId="8fc6c4da0649c2dd" providerId="LiveId" clId="{573F780D-467F-4B30-B938-2E4C1FA796E6}" dt="2025-06-09T13:44:35.498" v="9" actId="1076"/>
          <ac:picMkLst>
            <pc:docMk/>
            <pc:sldMk cId="3543824080" sldId="402"/>
            <ac:picMk id="8" creationId="{B75A885D-609D-436D-AE9E-AE2CF4EC56FA}"/>
          </ac:picMkLst>
        </pc:picChg>
        <pc:picChg chg="del">
          <ac:chgData name="Marion Sol" userId="8fc6c4da0649c2dd" providerId="LiveId" clId="{573F780D-467F-4B30-B938-2E4C1FA796E6}" dt="2025-06-09T13:44:01.628" v="1" actId="478"/>
          <ac:picMkLst>
            <pc:docMk/>
            <pc:sldMk cId="3543824080" sldId="402"/>
            <ac:picMk id="1028" creationId="{7E8A8553-F355-86F2-EC06-F10BB09F7723}"/>
          </ac:picMkLst>
        </pc:picChg>
      </pc:sldChg>
      <pc:sldChg chg="addSp delSp modSp add mod">
        <pc:chgData name="Marion Sol" userId="8fc6c4da0649c2dd" providerId="LiveId" clId="{573F780D-467F-4B30-B938-2E4C1FA796E6}" dt="2025-06-09T13:48:28.559" v="15" actId="1076"/>
        <pc:sldMkLst>
          <pc:docMk/>
          <pc:sldMk cId="949965545" sldId="403"/>
        </pc:sldMkLst>
        <pc:picChg chg="del">
          <ac:chgData name="Marion Sol" userId="8fc6c4da0649c2dd" providerId="LiveId" clId="{573F780D-467F-4B30-B938-2E4C1FA796E6}" dt="2025-06-09T13:47:06.579" v="11" actId="478"/>
          <ac:picMkLst>
            <pc:docMk/>
            <pc:sldMk cId="949965545" sldId="403"/>
            <ac:picMk id="8" creationId="{0F77F71E-1452-0BDC-00FB-73D6EC1E311D}"/>
          </ac:picMkLst>
        </pc:picChg>
        <pc:picChg chg="add mod">
          <ac:chgData name="Marion Sol" userId="8fc6c4da0649c2dd" providerId="LiveId" clId="{573F780D-467F-4B30-B938-2E4C1FA796E6}" dt="2025-06-09T13:48:28.559" v="15" actId="1076"/>
          <ac:picMkLst>
            <pc:docMk/>
            <pc:sldMk cId="949965545" sldId="403"/>
            <ac:picMk id="1026" creationId="{830C78A7-ABB2-04F8-306A-AD1447F2E4B1}"/>
          </ac:picMkLst>
        </pc:picChg>
      </pc:sldChg>
    </pc:docChg>
  </pc:docChgLst>
  <pc:docChgLst>
    <pc:chgData name="Marion Sol" userId="8fc6c4da0649c2dd" providerId="LiveId" clId="{11A83F8F-89DF-472E-AB79-6824D3B6D54B}"/>
    <pc:docChg chg="modSld">
      <pc:chgData name="Marion Sol" userId="8fc6c4da0649c2dd" providerId="LiveId" clId="{11A83F8F-89DF-472E-AB79-6824D3B6D54B}" dt="2025-06-09T17:01:19.368" v="20" actId="20577"/>
      <pc:docMkLst>
        <pc:docMk/>
      </pc:docMkLst>
      <pc:sldChg chg="modNotesTx">
        <pc:chgData name="Marion Sol" userId="8fc6c4da0649c2dd" providerId="LiveId" clId="{11A83F8F-89DF-472E-AB79-6824D3B6D54B}" dt="2025-06-09T16:55:37.898" v="0" actId="20577"/>
        <pc:sldMkLst>
          <pc:docMk/>
          <pc:sldMk cId="2162296177" sldId="362"/>
        </pc:sldMkLst>
      </pc:sldChg>
      <pc:sldChg chg="modNotesTx">
        <pc:chgData name="Marion Sol" userId="8fc6c4da0649c2dd" providerId="LiveId" clId="{11A83F8F-89DF-472E-AB79-6824D3B6D54B}" dt="2025-06-09T16:55:42.944" v="1" actId="20577"/>
        <pc:sldMkLst>
          <pc:docMk/>
          <pc:sldMk cId="1752394004" sldId="363"/>
        </pc:sldMkLst>
      </pc:sldChg>
      <pc:sldChg chg="modNotesTx">
        <pc:chgData name="Marion Sol" userId="8fc6c4da0649c2dd" providerId="LiveId" clId="{11A83F8F-89DF-472E-AB79-6824D3B6D54B}" dt="2025-06-09T16:55:47.933" v="2" actId="20577"/>
        <pc:sldMkLst>
          <pc:docMk/>
          <pc:sldMk cId="1353295733" sldId="364"/>
        </pc:sldMkLst>
      </pc:sldChg>
      <pc:sldChg chg="modNotesTx">
        <pc:chgData name="Marion Sol" userId="8fc6c4da0649c2dd" providerId="LiveId" clId="{11A83F8F-89DF-472E-AB79-6824D3B6D54B}" dt="2025-06-09T16:55:51.026" v="3" actId="20577"/>
        <pc:sldMkLst>
          <pc:docMk/>
          <pc:sldMk cId="1912114184" sldId="365"/>
        </pc:sldMkLst>
      </pc:sldChg>
      <pc:sldChg chg="modNotesTx">
        <pc:chgData name="Marion Sol" userId="8fc6c4da0649c2dd" providerId="LiveId" clId="{11A83F8F-89DF-472E-AB79-6824D3B6D54B}" dt="2025-06-09T16:56:02.397" v="4" actId="20577"/>
        <pc:sldMkLst>
          <pc:docMk/>
          <pc:sldMk cId="680372205" sldId="369"/>
        </pc:sldMkLst>
      </pc:sldChg>
      <pc:sldChg chg="modNotesTx">
        <pc:chgData name="Marion Sol" userId="8fc6c4da0649c2dd" providerId="LiveId" clId="{11A83F8F-89DF-472E-AB79-6824D3B6D54B}" dt="2025-06-09T16:56:07.415" v="6" actId="20577"/>
        <pc:sldMkLst>
          <pc:docMk/>
          <pc:sldMk cId="1585665569" sldId="370"/>
        </pc:sldMkLst>
      </pc:sldChg>
      <pc:sldChg chg="modNotesTx">
        <pc:chgData name="Marion Sol" userId="8fc6c4da0649c2dd" providerId="LiveId" clId="{11A83F8F-89DF-472E-AB79-6824D3B6D54B}" dt="2025-06-09T16:56:13.002" v="7" actId="20577"/>
        <pc:sldMkLst>
          <pc:docMk/>
          <pc:sldMk cId="782813760" sldId="374"/>
        </pc:sldMkLst>
      </pc:sldChg>
      <pc:sldChg chg="modNotesTx">
        <pc:chgData name="Marion Sol" userId="8fc6c4da0649c2dd" providerId="LiveId" clId="{11A83F8F-89DF-472E-AB79-6824D3B6D54B}" dt="2025-06-09T17:01:19.368" v="20" actId="20577"/>
        <pc:sldMkLst>
          <pc:docMk/>
          <pc:sldMk cId="2720032128" sldId="376"/>
        </pc:sldMkLst>
      </pc:sldChg>
      <pc:sldChg chg="modNotesTx">
        <pc:chgData name="Marion Sol" userId="8fc6c4da0649c2dd" providerId="LiveId" clId="{11A83F8F-89DF-472E-AB79-6824D3B6D54B}" dt="2025-06-09T17:00:56.429" v="18" actId="20577"/>
        <pc:sldMkLst>
          <pc:docMk/>
          <pc:sldMk cId="573873792" sldId="378"/>
        </pc:sldMkLst>
      </pc:sldChg>
      <pc:sldChg chg="modNotesTx">
        <pc:chgData name="Marion Sol" userId="8fc6c4da0649c2dd" providerId="LiveId" clId="{11A83F8F-89DF-472E-AB79-6824D3B6D54B}" dt="2025-06-09T16:56:34.266" v="8" actId="20577"/>
        <pc:sldMkLst>
          <pc:docMk/>
          <pc:sldMk cId="3465659187" sldId="390"/>
        </pc:sldMkLst>
      </pc:sldChg>
      <pc:sldChg chg="modNotesTx">
        <pc:chgData name="Marion Sol" userId="8fc6c4da0649c2dd" providerId="LiveId" clId="{11A83F8F-89DF-472E-AB79-6824D3B6D54B}" dt="2025-06-09T16:56:38.067" v="9" actId="20577"/>
        <pc:sldMkLst>
          <pc:docMk/>
          <pc:sldMk cId="798392292" sldId="391"/>
        </pc:sldMkLst>
      </pc:sldChg>
      <pc:sldChg chg="modNotesTx">
        <pc:chgData name="Marion Sol" userId="8fc6c4da0649c2dd" providerId="LiveId" clId="{11A83F8F-89DF-472E-AB79-6824D3B6D54B}" dt="2025-06-09T16:56:49.852" v="11" actId="20577"/>
        <pc:sldMkLst>
          <pc:docMk/>
          <pc:sldMk cId="2796620106" sldId="393"/>
        </pc:sldMkLst>
      </pc:sldChg>
      <pc:sldChg chg="modNotesTx">
        <pc:chgData name="Marion Sol" userId="8fc6c4da0649c2dd" providerId="LiveId" clId="{11A83F8F-89DF-472E-AB79-6824D3B6D54B}" dt="2025-06-09T17:01:05.910" v="19" actId="20577"/>
        <pc:sldMkLst>
          <pc:docMk/>
          <pc:sldMk cId="2132431673" sldId="394"/>
        </pc:sldMkLst>
      </pc:sldChg>
      <pc:sldChg chg="modNotesTx">
        <pc:chgData name="Marion Sol" userId="8fc6c4da0649c2dd" providerId="LiveId" clId="{11A83F8F-89DF-472E-AB79-6824D3B6D54B}" dt="2025-06-09T16:57:04.676" v="15" actId="20577"/>
        <pc:sldMkLst>
          <pc:docMk/>
          <pc:sldMk cId="3855726788" sldId="395"/>
        </pc:sldMkLst>
      </pc:sldChg>
      <pc:sldChg chg="modNotesTx">
        <pc:chgData name="Marion Sol" userId="8fc6c4da0649c2dd" providerId="LiveId" clId="{11A83F8F-89DF-472E-AB79-6824D3B6D54B}" dt="2025-06-09T16:56:54.029" v="12" actId="20577"/>
        <pc:sldMkLst>
          <pc:docMk/>
          <pc:sldMk cId="2733274801" sldId="396"/>
        </pc:sldMkLst>
      </pc:sldChg>
      <pc:sldChg chg="modNotesTx">
        <pc:chgData name="Marion Sol" userId="8fc6c4da0649c2dd" providerId="LiveId" clId="{11A83F8F-89DF-472E-AB79-6824D3B6D54B}" dt="2025-06-09T16:56:46.400" v="10" actId="20577"/>
        <pc:sldMkLst>
          <pc:docMk/>
          <pc:sldMk cId="2440578512" sldId="397"/>
        </pc:sldMkLst>
      </pc:sldChg>
      <pc:sldChg chg="modNotesTx">
        <pc:chgData name="Marion Sol" userId="8fc6c4da0649c2dd" providerId="LiveId" clId="{11A83F8F-89DF-472E-AB79-6824D3B6D54B}" dt="2025-06-09T16:56:57.245" v="13" actId="20577"/>
        <pc:sldMkLst>
          <pc:docMk/>
          <pc:sldMk cId="923411931" sldId="399"/>
        </pc:sldMkLst>
      </pc:sldChg>
      <pc:sldChg chg="modNotesTx">
        <pc:chgData name="Marion Sol" userId="8fc6c4da0649c2dd" providerId="LiveId" clId="{11A83F8F-89DF-472E-AB79-6824D3B6D54B}" dt="2025-06-09T16:57:08.189" v="16" actId="20577"/>
        <pc:sldMkLst>
          <pc:docMk/>
          <pc:sldMk cId="4224405397" sldId="400"/>
        </pc:sldMkLst>
      </pc:sldChg>
      <pc:sldChg chg="modNotesTx">
        <pc:chgData name="Marion Sol" userId="8fc6c4da0649c2dd" providerId="LiveId" clId="{11A83F8F-89DF-472E-AB79-6824D3B6D54B}" dt="2025-06-09T16:57:11.427" v="17" actId="20577"/>
        <pc:sldMkLst>
          <pc:docMk/>
          <pc:sldMk cId="377944532" sldId="401"/>
        </pc:sldMkLst>
      </pc:sldChg>
      <pc:sldChg chg="modNotesTx">
        <pc:chgData name="Marion Sol" userId="8fc6c4da0649c2dd" providerId="LiveId" clId="{11A83F8F-89DF-472E-AB79-6824D3B6D54B}" dt="2025-06-09T16:57:01.203" v="14" actId="20577"/>
        <pc:sldMkLst>
          <pc:docMk/>
          <pc:sldMk cId="949965545" sldId="403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2CF69B-625B-427A-A826-FE1150A3AC2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242CCAA-C4FC-4771-BCE4-0A9944D3BE2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b="1" noProof="0" dirty="0">
              <a:latin typeface="+mn-lt"/>
            </a:rPr>
            <a:t>Introduction</a:t>
          </a:r>
          <a:endParaRPr lang="fr-FR" noProof="0" dirty="0">
            <a:latin typeface="+mn-lt"/>
          </a:endParaRPr>
        </a:p>
      </dgm:t>
    </dgm:pt>
    <dgm:pt modelId="{12CC08E2-1FC8-4984-A765-A3DD811E0B65}" type="parTrans" cxnId="{BCFB491B-2787-468A-987B-0666A20444D7}">
      <dgm:prSet/>
      <dgm:spPr/>
      <dgm:t>
        <a:bodyPr/>
        <a:lstStyle/>
        <a:p>
          <a:endParaRPr lang="en-US"/>
        </a:p>
      </dgm:t>
    </dgm:pt>
    <dgm:pt modelId="{42B5C94C-E844-438F-AA42-371E367A5309}" type="sibTrans" cxnId="{BCFB491B-2787-468A-987B-0666A20444D7}">
      <dgm:prSet/>
      <dgm:spPr/>
      <dgm:t>
        <a:bodyPr/>
        <a:lstStyle/>
        <a:p>
          <a:endParaRPr lang="en-US"/>
        </a:p>
      </dgm:t>
    </dgm:pt>
    <dgm:pt modelId="{9AD23F52-BB51-459E-B700-D823141643B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fr-FR" b="1" noProof="0" dirty="0">
              <a:latin typeface="+mn-lt"/>
            </a:rPr>
            <a:t>Analyse Préliminaire des Données</a:t>
          </a:r>
          <a:endParaRPr lang="fr-FR" noProof="0" dirty="0">
            <a:latin typeface="+mn-lt"/>
          </a:endParaRPr>
        </a:p>
      </dgm:t>
    </dgm:pt>
    <dgm:pt modelId="{2E640933-EDED-4880-8D66-7D3653D0480A}" type="parTrans" cxnId="{1F38FFFF-90D3-41E2-86D0-5265A56BEFF6}">
      <dgm:prSet/>
      <dgm:spPr/>
      <dgm:t>
        <a:bodyPr/>
        <a:lstStyle/>
        <a:p>
          <a:endParaRPr lang="en-US"/>
        </a:p>
      </dgm:t>
    </dgm:pt>
    <dgm:pt modelId="{FA3335DD-0423-45B3-84D0-431107E25823}" type="sibTrans" cxnId="{1F38FFFF-90D3-41E2-86D0-5265A56BEFF6}">
      <dgm:prSet/>
      <dgm:spPr/>
      <dgm:t>
        <a:bodyPr/>
        <a:lstStyle/>
        <a:p>
          <a:endParaRPr lang="en-US"/>
        </a:p>
      </dgm:t>
    </dgm:pt>
    <dgm:pt modelId="{309EEE22-4E42-4DCE-91A2-08257B88D4ED}">
      <dgm:prSet custT="1"/>
      <dgm:spPr/>
      <dgm:t>
        <a:bodyPr/>
        <a:lstStyle/>
        <a:p>
          <a:pPr marL="0" algn="ctr" defTabSz="457200" rtl="0" eaLnBrk="1" latinLnBrk="0" hangingPunct="1">
            <a:lnSpc>
              <a:spcPct val="100000"/>
            </a:lnSpc>
            <a:defRPr cap="all"/>
          </a:pPr>
          <a:r>
            <a:rPr lang="fr-FR" sz="1800" b="1" kern="1200" cap="all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segmentation</a:t>
          </a:r>
        </a:p>
      </dgm:t>
    </dgm:pt>
    <dgm:pt modelId="{9227BF6B-F434-48DE-AE80-059A74E6843A}" type="parTrans" cxnId="{726FE692-EF51-410E-8CFF-74542D2FD989}">
      <dgm:prSet/>
      <dgm:spPr/>
      <dgm:t>
        <a:bodyPr/>
        <a:lstStyle/>
        <a:p>
          <a:endParaRPr lang="en-US"/>
        </a:p>
      </dgm:t>
    </dgm:pt>
    <dgm:pt modelId="{78827646-377E-44F0-AE32-4CC10500DF4E}" type="sibTrans" cxnId="{726FE692-EF51-410E-8CFF-74542D2FD989}">
      <dgm:prSet/>
      <dgm:spPr/>
      <dgm:t>
        <a:bodyPr/>
        <a:lstStyle/>
        <a:p>
          <a:endParaRPr lang="en-US"/>
        </a:p>
      </dgm:t>
    </dgm:pt>
    <dgm:pt modelId="{E5DD65C6-467C-4D95-AD40-5BB10A80F746}">
      <dgm:prSet custT="1"/>
      <dgm:spPr/>
      <dgm:t>
        <a:bodyPr/>
        <a:lstStyle/>
        <a:p>
          <a:pPr algn="r">
            <a:lnSpc>
              <a:spcPct val="100000"/>
            </a:lnSpc>
            <a:defRPr cap="all"/>
          </a:pPr>
          <a:r>
            <a:rPr lang="fr-FR" sz="1800" b="1" kern="1200" cap="all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Contact de maintenance </a:t>
          </a:r>
        </a:p>
      </dgm:t>
    </dgm:pt>
    <dgm:pt modelId="{D247737F-8794-4804-ADF8-358C7954FACE}" type="parTrans" cxnId="{817B0DB7-6AD8-447B-93EA-032FAD7AC6B4}">
      <dgm:prSet/>
      <dgm:spPr/>
      <dgm:t>
        <a:bodyPr/>
        <a:lstStyle/>
        <a:p>
          <a:endParaRPr lang="en-US"/>
        </a:p>
      </dgm:t>
    </dgm:pt>
    <dgm:pt modelId="{ABCCAD4F-99B1-490C-B9DF-CDED531339E4}" type="sibTrans" cxnId="{817B0DB7-6AD8-447B-93EA-032FAD7AC6B4}">
      <dgm:prSet/>
      <dgm:spPr/>
      <dgm:t>
        <a:bodyPr/>
        <a:lstStyle/>
        <a:p>
          <a:endParaRPr lang="en-US"/>
        </a:p>
      </dgm:t>
    </dgm:pt>
    <dgm:pt modelId="{6589E3AA-DF39-4D80-AC16-74DCB2D12576}" type="pres">
      <dgm:prSet presAssocID="{622CF69B-625B-427A-A826-FE1150A3AC27}" presName="root" presStyleCnt="0">
        <dgm:presLayoutVars>
          <dgm:dir/>
          <dgm:resizeHandles val="exact"/>
        </dgm:presLayoutVars>
      </dgm:prSet>
      <dgm:spPr/>
    </dgm:pt>
    <dgm:pt modelId="{00BB40DC-2E2E-491B-874C-439760263345}" type="pres">
      <dgm:prSet presAssocID="{1242CCAA-C4FC-4771-BCE4-0A9944D3BE2A}" presName="compNode" presStyleCnt="0"/>
      <dgm:spPr/>
    </dgm:pt>
    <dgm:pt modelId="{57E4400E-5ADB-44A9-AB8E-09658129297A}" type="pres">
      <dgm:prSet presAssocID="{1242CCAA-C4FC-4771-BCE4-0A9944D3BE2A}" presName="iconBgRect" presStyleLbl="bgShp" presStyleIdx="0" presStyleCnt="4" custLinFactNeighborX="-53283" custLinFactNeighborY="16542"/>
      <dgm:spPr/>
    </dgm:pt>
    <dgm:pt modelId="{FF5B477A-5F5C-4718-B301-56F87E8E9B09}" type="pres">
      <dgm:prSet presAssocID="{1242CCAA-C4FC-4771-BCE4-0A9944D3BE2A}" presName="iconRect" presStyleLbl="node1" presStyleIdx="0" presStyleCnt="4" custLinFactX="-5125" custLinFactNeighborX="-100000" custLinFactNeighborY="2976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ntôme"/>
        </a:ext>
      </dgm:extLst>
    </dgm:pt>
    <dgm:pt modelId="{229B4899-51DF-4ACD-A6B2-72D7F4C9B253}" type="pres">
      <dgm:prSet presAssocID="{1242CCAA-C4FC-4771-BCE4-0A9944D3BE2A}" presName="spaceRect" presStyleCnt="0"/>
      <dgm:spPr/>
    </dgm:pt>
    <dgm:pt modelId="{29460ADA-2997-41EB-89C6-D3E1E598A76C}" type="pres">
      <dgm:prSet presAssocID="{1242CCAA-C4FC-4771-BCE4-0A9944D3BE2A}" presName="textRect" presStyleLbl="revTx" presStyleIdx="0" presStyleCnt="4" custScaleX="94638" custScaleY="76091" custLinFactNeighborX="-19466" custLinFactNeighborY="-126">
        <dgm:presLayoutVars>
          <dgm:chMax val="1"/>
          <dgm:chPref val="1"/>
        </dgm:presLayoutVars>
      </dgm:prSet>
      <dgm:spPr/>
    </dgm:pt>
    <dgm:pt modelId="{AB27315D-A341-4B46-AC25-4809F9D9AFE7}" type="pres">
      <dgm:prSet presAssocID="{42B5C94C-E844-438F-AA42-371E367A5309}" presName="sibTrans" presStyleCnt="0"/>
      <dgm:spPr/>
    </dgm:pt>
    <dgm:pt modelId="{E36E5FCC-E111-401D-94CB-CB6139B86618}" type="pres">
      <dgm:prSet presAssocID="{9AD23F52-BB51-459E-B700-D823141643B9}" presName="compNode" presStyleCnt="0"/>
      <dgm:spPr/>
    </dgm:pt>
    <dgm:pt modelId="{E0684168-FD31-402F-8C48-86A72F69ADC0}" type="pres">
      <dgm:prSet presAssocID="{9AD23F52-BB51-459E-B700-D823141643B9}" presName="iconBgRect" presStyleLbl="bgShp" presStyleIdx="1" presStyleCnt="4" custLinFactNeighborX="87352" custLinFactNeighborY="20182"/>
      <dgm:spPr/>
    </dgm:pt>
    <dgm:pt modelId="{3E6C779D-AB23-48DD-BD80-F78A16AAD9FE}" type="pres">
      <dgm:prSet presAssocID="{9AD23F52-BB51-459E-B700-D823141643B9}" presName="iconRect" presStyleLbl="node1" presStyleIdx="1" presStyleCnt="4" custLinFactX="49202" custLinFactNeighborX="100000" custLinFactNeighborY="2893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DCDE9C9-6B55-46EE-B265-88DCF269A535}" type="pres">
      <dgm:prSet presAssocID="{9AD23F52-BB51-459E-B700-D823141643B9}" presName="spaceRect" presStyleCnt="0"/>
      <dgm:spPr/>
    </dgm:pt>
    <dgm:pt modelId="{C82E1793-B996-4FF4-A322-F4B81089C9D5}" type="pres">
      <dgm:prSet presAssocID="{9AD23F52-BB51-459E-B700-D823141643B9}" presName="textRect" presStyleLbl="revTx" presStyleIdx="1" presStyleCnt="4" custLinFactNeighborX="44336" custLinFactNeighborY="34259">
        <dgm:presLayoutVars>
          <dgm:chMax val="1"/>
          <dgm:chPref val="1"/>
        </dgm:presLayoutVars>
      </dgm:prSet>
      <dgm:spPr/>
    </dgm:pt>
    <dgm:pt modelId="{538B0E16-250D-4330-B75B-B5426381B372}" type="pres">
      <dgm:prSet presAssocID="{FA3335DD-0423-45B3-84D0-431107E25823}" presName="sibTrans" presStyleCnt="0"/>
      <dgm:spPr/>
    </dgm:pt>
    <dgm:pt modelId="{663EC9D0-FE05-4340-97DC-5F249F90618B}" type="pres">
      <dgm:prSet presAssocID="{309EEE22-4E42-4DCE-91A2-08257B88D4ED}" presName="compNode" presStyleCnt="0"/>
      <dgm:spPr/>
    </dgm:pt>
    <dgm:pt modelId="{8793CFA6-954D-4C40-8322-5B56FFB99240}" type="pres">
      <dgm:prSet presAssocID="{309EEE22-4E42-4DCE-91A2-08257B88D4ED}" presName="iconBgRect" presStyleLbl="bgShp" presStyleIdx="2" presStyleCnt="4" custLinFactNeighborX="72683" custLinFactNeighborY="17071"/>
      <dgm:spPr/>
    </dgm:pt>
    <dgm:pt modelId="{C8D62033-DE3D-4E50-B669-A4A4EC8F44CA}" type="pres">
      <dgm:prSet presAssocID="{309EEE22-4E42-4DCE-91A2-08257B88D4ED}" presName="iconRect" presStyleLbl="node1" presStyleIdx="2" presStyleCnt="4" custLinFactX="26676" custLinFactNeighborX="100000" custLinFactNeighborY="2975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643342F-5ADC-49CB-A379-48C41E357085}" type="pres">
      <dgm:prSet presAssocID="{309EEE22-4E42-4DCE-91A2-08257B88D4ED}" presName="spaceRect" presStyleCnt="0"/>
      <dgm:spPr/>
    </dgm:pt>
    <dgm:pt modelId="{A8A13E70-6866-47D4-843B-F04B873BFE5F}" type="pres">
      <dgm:prSet presAssocID="{309EEE22-4E42-4DCE-91A2-08257B88D4ED}" presName="textRect" presStyleLbl="revTx" presStyleIdx="2" presStyleCnt="4" custScaleX="74454" custLinFactNeighborX="51990" custLinFactNeighborY="35511">
        <dgm:presLayoutVars>
          <dgm:chMax val="1"/>
          <dgm:chPref val="1"/>
        </dgm:presLayoutVars>
      </dgm:prSet>
      <dgm:spPr/>
    </dgm:pt>
    <dgm:pt modelId="{8F1F9BA4-43D1-43D9-8721-664B008B270A}" type="pres">
      <dgm:prSet presAssocID="{78827646-377E-44F0-AE32-4CC10500DF4E}" presName="sibTrans" presStyleCnt="0"/>
      <dgm:spPr/>
    </dgm:pt>
    <dgm:pt modelId="{8617F148-9A68-4796-9473-FCA5BF9BEA26}" type="pres">
      <dgm:prSet presAssocID="{E5DD65C6-467C-4D95-AD40-5BB10A80F746}" presName="compNode" presStyleCnt="0"/>
      <dgm:spPr/>
    </dgm:pt>
    <dgm:pt modelId="{508F9419-0906-4ABC-B41E-19A08EA4A412}" type="pres">
      <dgm:prSet presAssocID="{E5DD65C6-467C-4D95-AD40-5BB10A80F746}" presName="iconBgRect" presStyleLbl="bgShp" presStyleIdx="3" presStyleCnt="4" custLinFactNeighborX="46743" custLinFactNeighborY="17065"/>
      <dgm:spPr/>
    </dgm:pt>
    <dgm:pt modelId="{1844B048-631C-45AC-905A-EB315B4D2BD3}" type="pres">
      <dgm:prSet presAssocID="{E5DD65C6-467C-4D95-AD40-5BB10A80F746}" presName="iconRect" presStyleLbl="node1" presStyleIdx="3" presStyleCnt="4" custLinFactNeighborX="86736" custLinFactNeighborY="31853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F90C26A1-AF30-4E48-B561-C4363EC25718}" type="pres">
      <dgm:prSet presAssocID="{E5DD65C6-467C-4D95-AD40-5BB10A80F746}" presName="spaceRect" presStyleCnt="0"/>
      <dgm:spPr/>
    </dgm:pt>
    <dgm:pt modelId="{67DA3436-15DF-43C7-B193-2AF726BA25EE}" type="pres">
      <dgm:prSet presAssocID="{E5DD65C6-467C-4D95-AD40-5BB10A80F746}" presName="textRect" presStyleLbl="revTx" presStyleIdx="3" presStyleCnt="4" custScaleX="106547" custLinFactNeighborX="34" custLinFactNeighborY="27826">
        <dgm:presLayoutVars>
          <dgm:chMax val="1"/>
          <dgm:chPref val="1"/>
        </dgm:presLayoutVars>
      </dgm:prSet>
      <dgm:spPr/>
    </dgm:pt>
  </dgm:ptLst>
  <dgm:cxnLst>
    <dgm:cxn modelId="{BCFB491B-2787-468A-987B-0666A20444D7}" srcId="{622CF69B-625B-427A-A826-FE1150A3AC27}" destId="{1242CCAA-C4FC-4771-BCE4-0A9944D3BE2A}" srcOrd="0" destOrd="0" parTransId="{12CC08E2-1FC8-4984-A765-A3DD811E0B65}" sibTransId="{42B5C94C-E844-438F-AA42-371E367A5309}"/>
    <dgm:cxn modelId="{E406C551-0DAB-467F-9129-3DA04B6F4B0C}" type="presOf" srcId="{309EEE22-4E42-4DCE-91A2-08257B88D4ED}" destId="{A8A13E70-6866-47D4-843B-F04B873BFE5F}" srcOrd="0" destOrd="0" presId="urn:microsoft.com/office/officeart/2018/5/layout/IconCircleLabelList"/>
    <dgm:cxn modelId="{726FE692-EF51-410E-8CFF-74542D2FD989}" srcId="{622CF69B-625B-427A-A826-FE1150A3AC27}" destId="{309EEE22-4E42-4DCE-91A2-08257B88D4ED}" srcOrd="2" destOrd="0" parTransId="{9227BF6B-F434-48DE-AE80-059A74E6843A}" sibTransId="{78827646-377E-44F0-AE32-4CC10500DF4E}"/>
    <dgm:cxn modelId="{684F3199-21D9-404C-ABC3-7E7F924457F5}" type="presOf" srcId="{9AD23F52-BB51-459E-B700-D823141643B9}" destId="{C82E1793-B996-4FF4-A322-F4B81089C9D5}" srcOrd="0" destOrd="0" presId="urn:microsoft.com/office/officeart/2018/5/layout/IconCircleLabelList"/>
    <dgm:cxn modelId="{D54BD2AB-E596-4EE2-A929-72E61714628E}" type="presOf" srcId="{622CF69B-625B-427A-A826-FE1150A3AC27}" destId="{6589E3AA-DF39-4D80-AC16-74DCB2D12576}" srcOrd="0" destOrd="0" presId="urn:microsoft.com/office/officeart/2018/5/layout/IconCircleLabelList"/>
    <dgm:cxn modelId="{817B0DB7-6AD8-447B-93EA-032FAD7AC6B4}" srcId="{622CF69B-625B-427A-A826-FE1150A3AC27}" destId="{E5DD65C6-467C-4D95-AD40-5BB10A80F746}" srcOrd="3" destOrd="0" parTransId="{D247737F-8794-4804-ADF8-358C7954FACE}" sibTransId="{ABCCAD4F-99B1-490C-B9DF-CDED531339E4}"/>
    <dgm:cxn modelId="{BD0AABC1-D442-4896-A828-2AB16EA8918F}" type="presOf" srcId="{1242CCAA-C4FC-4771-BCE4-0A9944D3BE2A}" destId="{29460ADA-2997-41EB-89C6-D3E1E598A76C}" srcOrd="0" destOrd="0" presId="urn:microsoft.com/office/officeart/2018/5/layout/IconCircleLabelList"/>
    <dgm:cxn modelId="{DA37EFFA-34E2-4797-AC80-71F0E7384824}" type="presOf" srcId="{E5DD65C6-467C-4D95-AD40-5BB10A80F746}" destId="{67DA3436-15DF-43C7-B193-2AF726BA25EE}" srcOrd="0" destOrd="0" presId="urn:microsoft.com/office/officeart/2018/5/layout/IconCircleLabelList"/>
    <dgm:cxn modelId="{1F38FFFF-90D3-41E2-86D0-5265A56BEFF6}" srcId="{622CF69B-625B-427A-A826-FE1150A3AC27}" destId="{9AD23F52-BB51-459E-B700-D823141643B9}" srcOrd="1" destOrd="0" parTransId="{2E640933-EDED-4880-8D66-7D3653D0480A}" sibTransId="{FA3335DD-0423-45B3-84D0-431107E25823}"/>
    <dgm:cxn modelId="{42F71BA7-4276-4945-94FE-A8C0E02F0688}" type="presParOf" srcId="{6589E3AA-DF39-4D80-AC16-74DCB2D12576}" destId="{00BB40DC-2E2E-491B-874C-439760263345}" srcOrd="0" destOrd="0" presId="urn:microsoft.com/office/officeart/2018/5/layout/IconCircleLabelList"/>
    <dgm:cxn modelId="{C76A5070-0562-4FEC-A715-2DE738AD81DC}" type="presParOf" srcId="{00BB40DC-2E2E-491B-874C-439760263345}" destId="{57E4400E-5ADB-44A9-AB8E-09658129297A}" srcOrd="0" destOrd="0" presId="urn:microsoft.com/office/officeart/2018/5/layout/IconCircleLabelList"/>
    <dgm:cxn modelId="{374751E2-AC11-4C18-AA2A-2B89EC8D4C5D}" type="presParOf" srcId="{00BB40DC-2E2E-491B-874C-439760263345}" destId="{FF5B477A-5F5C-4718-B301-56F87E8E9B09}" srcOrd="1" destOrd="0" presId="urn:microsoft.com/office/officeart/2018/5/layout/IconCircleLabelList"/>
    <dgm:cxn modelId="{45949CBC-1EBF-47FE-AD11-2BEE1DB10BEB}" type="presParOf" srcId="{00BB40DC-2E2E-491B-874C-439760263345}" destId="{229B4899-51DF-4ACD-A6B2-72D7F4C9B253}" srcOrd="2" destOrd="0" presId="urn:microsoft.com/office/officeart/2018/5/layout/IconCircleLabelList"/>
    <dgm:cxn modelId="{66462BE2-0105-4F9E-9D35-2C68F5F4C885}" type="presParOf" srcId="{00BB40DC-2E2E-491B-874C-439760263345}" destId="{29460ADA-2997-41EB-89C6-D3E1E598A76C}" srcOrd="3" destOrd="0" presId="urn:microsoft.com/office/officeart/2018/5/layout/IconCircleLabelList"/>
    <dgm:cxn modelId="{10DBF67F-6259-4F65-A3F6-AFF42171D00B}" type="presParOf" srcId="{6589E3AA-DF39-4D80-AC16-74DCB2D12576}" destId="{AB27315D-A341-4B46-AC25-4809F9D9AFE7}" srcOrd="1" destOrd="0" presId="urn:microsoft.com/office/officeart/2018/5/layout/IconCircleLabelList"/>
    <dgm:cxn modelId="{1915EB45-ACC3-41D3-8984-6513EAD6F950}" type="presParOf" srcId="{6589E3AA-DF39-4D80-AC16-74DCB2D12576}" destId="{E36E5FCC-E111-401D-94CB-CB6139B86618}" srcOrd="2" destOrd="0" presId="urn:microsoft.com/office/officeart/2018/5/layout/IconCircleLabelList"/>
    <dgm:cxn modelId="{D880032E-6B91-4013-8E0C-0B2C075ADD1A}" type="presParOf" srcId="{E36E5FCC-E111-401D-94CB-CB6139B86618}" destId="{E0684168-FD31-402F-8C48-86A72F69ADC0}" srcOrd="0" destOrd="0" presId="urn:microsoft.com/office/officeart/2018/5/layout/IconCircleLabelList"/>
    <dgm:cxn modelId="{6D97E093-4D64-424A-A205-1A805A94407A}" type="presParOf" srcId="{E36E5FCC-E111-401D-94CB-CB6139B86618}" destId="{3E6C779D-AB23-48DD-BD80-F78A16AAD9FE}" srcOrd="1" destOrd="0" presId="urn:microsoft.com/office/officeart/2018/5/layout/IconCircleLabelList"/>
    <dgm:cxn modelId="{94271DA7-3903-4D38-B46D-FC045B014B32}" type="presParOf" srcId="{E36E5FCC-E111-401D-94CB-CB6139B86618}" destId="{3DCDE9C9-6B55-46EE-B265-88DCF269A535}" srcOrd="2" destOrd="0" presId="urn:microsoft.com/office/officeart/2018/5/layout/IconCircleLabelList"/>
    <dgm:cxn modelId="{2573AD5F-91C7-4665-959D-2EE34078DD4B}" type="presParOf" srcId="{E36E5FCC-E111-401D-94CB-CB6139B86618}" destId="{C82E1793-B996-4FF4-A322-F4B81089C9D5}" srcOrd="3" destOrd="0" presId="urn:microsoft.com/office/officeart/2018/5/layout/IconCircleLabelList"/>
    <dgm:cxn modelId="{312C65A8-7DB0-4892-94A2-2785EB061CA2}" type="presParOf" srcId="{6589E3AA-DF39-4D80-AC16-74DCB2D12576}" destId="{538B0E16-250D-4330-B75B-B5426381B372}" srcOrd="3" destOrd="0" presId="urn:microsoft.com/office/officeart/2018/5/layout/IconCircleLabelList"/>
    <dgm:cxn modelId="{4869454B-C786-4D71-8D6A-01F43B16A6EF}" type="presParOf" srcId="{6589E3AA-DF39-4D80-AC16-74DCB2D12576}" destId="{663EC9D0-FE05-4340-97DC-5F249F90618B}" srcOrd="4" destOrd="0" presId="urn:microsoft.com/office/officeart/2018/5/layout/IconCircleLabelList"/>
    <dgm:cxn modelId="{3C7525F2-2C2E-4AF8-97AE-1FFF09F8CAF7}" type="presParOf" srcId="{663EC9D0-FE05-4340-97DC-5F249F90618B}" destId="{8793CFA6-954D-4C40-8322-5B56FFB99240}" srcOrd="0" destOrd="0" presId="urn:microsoft.com/office/officeart/2018/5/layout/IconCircleLabelList"/>
    <dgm:cxn modelId="{7F2DE53F-4B83-4965-B898-8B6FD6178A17}" type="presParOf" srcId="{663EC9D0-FE05-4340-97DC-5F249F90618B}" destId="{C8D62033-DE3D-4E50-B669-A4A4EC8F44CA}" srcOrd="1" destOrd="0" presId="urn:microsoft.com/office/officeart/2018/5/layout/IconCircleLabelList"/>
    <dgm:cxn modelId="{47E183DB-102C-43A6-9EB2-1BA6E53A1776}" type="presParOf" srcId="{663EC9D0-FE05-4340-97DC-5F249F90618B}" destId="{E643342F-5ADC-49CB-A379-48C41E357085}" srcOrd="2" destOrd="0" presId="urn:microsoft.com/office/officeart/2018/5/layout/IconCircleLabelList"/>
    <dgm:cxn modelId="{5210B901-0F96-4936-8C80-64E2ECF7A115}" type="presParOf" srcId="{663EC9D0-FE05-4340-97DC-5F249F90618B}" destId="{A8A13E70-6866-47D4-843B-F04B873BFE5F}" srcOrd="3" destOrd="0" presId="urn:microsoft.com/office/officeart/2018/5/layout/IconCircleLabelList"/>
    <dgm:cxn modelId="{C783FD0A-2B81-456F-8F17-231F400F027C}" type="presParOf" srcId="{6589E3AA-DF39-4D80-AC16-74DCB2D12576}" destId="{8F1F9BA4-43D1-43D9-8721-664B008B270A}" srcOrd="5" destOrd="0" presId="urn:microsoft.com/office/officeart/2018/5/layout/IconCircleLabelList"/>
    <dgm:cxn modelId="{A77168CB-84E6-4985-BCD8-B9F6404D19E4}" type="presParOf" srcId="{6589E3AA-DF39-4D80-AC16-74DCB2D12576}" destId="{8617F148-9A68-4796-9473-FCA5BF9BEA26}" srcOrd="6" destOrd="0" presId="urn:microsoft.com/office/officeart/2018/5/layout/IconCircleLabelList"/>
    <dgm:cxn modelId="{B6DEEFD5-F882-4D93-895C-71B674BB449E}" type="presParOf" srcId="{8617F148-9A68-4796-9473-FCA5BF9BEA26}" destId="{508F9419-0906-4ABC-B41E-19A08EA4A412}" srcOrd="0" destOrd="0" presId="urn:microsoft.com/office/officeart/2018/5/layout/IconCircleLabelList"/>
    <dgm:cxn modelId="{C46B6BE2-FDEB-4B2E-B9E9-7F93E6CDBE38}" type="presParOf" srcId="{8617F148-9A68-4796-9473-FCA5BF9BEA26}" destId="{1844B048-631C-45AC-905A-EB315B4D2BD3}" srcOrd="1" destOrd="0" presId="urn:microsoft.com/office/officeart/2018/5/layout/IconCircleLabelList"/>
    <dgm:cxn modelId="{69167A78-E300-4AEB-AB81-E655F2909D1B}" type="presParOf" srcId="{8617F148-9A68-4796-9473-FCA5BF9BEA26}" destId="{F90C26A1-AF30-4E48-B561-C4363EC25718}" srcOrd="2" destOrd="0" presId="urn:microsoft.com/office/officeart/2018/5/layout/IconCircleLabelList"/>
    <dgm:cxn modelId="{4005014F-9D94-40E0-86C1-3D107FCAE944}" type="presParOf" srcId="{8617F148-9A68-4796-9473-FCA5BF9BEA26}" destId="{67DA3436-15DF-43C7-B193-2AF726BA25E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E4400E-5ADB-44A9-AB8E-09658129297A}">
      <dsp:nvSpPr>
        <dsp:cNvPr id="0" name=""/>
        <dsp:cNvSpPr/>
      </dsp:nvSpPr>
      <dsp:spPr>
        <a:xfrm>
          <a:off x="31423" y="1112538"/>
          <a:ext cx="1480637" cy="14806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B477A-5F5C-4718-B301-56F87E8E9B09}">
      <dsp:nvSpPr>
        <dsp:cNvPr id="0" name=""/>
        <dsp:cNvSpPr/>
      </dsp:nvSpPr>
      <dsp:spPr>
        <a:xfrm>
          <a:off x="242812" y="1436024"/>
          <a:ext cx="849546" cy="8495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460ADA-2997-41EB-89C6-D3E1E598A76C}">
      <dsp:nvSpPr>
        <dsp:cNvPr id="0" name=""/>
        <dsp:cNvSpPr/>
      </dsp:nvSpPr>
      <dsp:spPr>
        <a:xfrm>
          <a:off x="0" y="2874234"/>
          <a:ext cx="2173952" cy="416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900" b="1" kern="1200" noProof="0" dirty="0">
              <a:latin typeface="+mn-lt"/>
            </a:rPr>
            <a:t>Introduction</a:t>
          </a:r>
          <a:endParaRPr lang="fr-FR" sz="1900" kern="1200" noProof="0" dirty="0">
            <a:latin typeface="+mn-lt"/>
          </a:endParaRPr>
        </a:p>
      </dsp:txBody>
      <dsp:txXfrm>
        <a:off x="0" y="2874234"/>
        <a:ext cx="2173952" cy="416868"/>
      </dsp:txXfrm>
    </dsp:sp>
    <dsp:sp modelId="{E0684168-FD31-402F-8C48-86A72F69ADC0}">
      <dsp:nvSpPr>
        <dsp:cNvPr id="0" name=""/>
        <dsp:cNvSpPr/>
      </dsp:nvSpPr>
      <dsp:spPr>
        <a:xfrm>
          <a:off x="4965766" y="1047614"/>
          <a:ext cx="1480637" cy="14806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C779D-AB23-48DD-BD80-F78A16AAD9FE}">
      <dsp:nvSpPr>
        <dsp:cNvPr id="0" name=""/>
        <dsp:cNvSpPr/>
      </dsp:nvSpPr>
      <dsp:spPr>
        <a:xfrm>
          <a:off x="5255485" y="1310128"/>
          <a:ext cx="849546" cy="8495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2E1793-B996-4FF4-A322-F4B81089C9D5}">
      <dsp:nvSpPr>
        <dsp:cNvPr id="0" name=""/>
        <dsp:cNvSpPr/>
      </dsp:nvSpPr>
      <dsp:spPr>
        <a:xfrm>
          <a:off x="4275238" y="2937276"/>
          <a:ext cx="242727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900" b="1" kern="1200" noProof="0" dirty="0">
              <a:latin typeface="+mn-lt"/>
            </a:rPr>
            <a:t>Analyse Préliminaire des Données</a:t>
          </a:r>
          <a:endParaRPr lang="fr-FR" sz="1900" kern="1200" noProof="0" dirty="0">
            <a:latin typeface="+mn-lt"/>
          </a:endParaRPr>
        </a:p>
      </dsp:txBody>
      <dsp:txXfrm>
        <a:off x="4275238" y="2937276"/>
        <a:ext cx="2427274" cy="720000"/>
      </dsp:txXfrm>
    </dsp:sp>
    <dsp:sp modelId="{8793CFA6-954D-4C40-8322-5B56FFB99240}">
      <dsp:nvSpPr>
        <dsp:cNvPr id="0" name=""/>
        <dsp:cNvSpPr/>
      </dsp:nvSpPr>
      <dsp:spPr>
        <a:xfrm>
          <a:off x="7600620" y="1001551"/>
          <a:ext cx="1480637" cy="14806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D62033-DE3D-4E50-B669-A4A4EC8F44CA}">
      <dsp:nvSpPr>
        <dsp:cNvPr id="0" name=""/>
        <dsp:cNvSpPr/>
      </dsp:nvSpPr>
      <dsp:spPr>
        <a:xfrm>
          <a:off x="7916165" y="1317094"/>
          <a:ext cx="849546" cy="8495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13E70-6866-47D4-843B-F04B873BFE5F}">
      <dsp:nvSpPr>
        <dsp:cNvPr id="0" name=""/>
        <dsp:cNvSpPr/>
      </dsp:nvSpPr>
      <dsp:spPr>
        <a:xfrm>
          <a:off x="7623105" y="2946291"/>
          <a:ext cx="18072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57200" rtl="0" eaLnBrk="1" latinLnBrk="0" hangingPunct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800" b="1" kern="1200" cap="all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+mn-ea"/>
              <a:cs typeface="+mn-cs"/>
            </a:rPr>
            <a:t>segmentation</a:t>
          </a:r>
        </a:p>
      </dsp:txBody>
      <dsp:txXfrm>
        <a:off x="7623105" y="2946291"/>
        <a:ext cx="1807203" cy="720000"/>
      </dsp:txXfrm>
    </dsp:sp>
    <dsp:sp modelId="{508F9419-0906-4ABC-B41E-19A08EA4A412}">
      <dsp:nvSpPr>
        <dsp:cNvPr id="0" name=""/>
        <dsp:cNvSpPr/>
      </dsp:nvSpPr>
      <dsp:spPr>
        <a:xfrm>
          <a:off x="10148047" y="1001462"/>
          <a:ext cx="1480637" cy="148063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44B048-631C-45AC-905A-EB315B4D2BD3}">
      <dsp:nvSpPr>
        <dsp:cNvPr id="0" name=""/>
        <dsp:cNvSpPr/>
      </dsp:nvSpPr>
      <dsp:spPr>
        <a:xfrm>
          <a:off x="10508361" y="1334943"/>
          <a:ext cx="849546" cy="8495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A3436-15DF-43C7-B193-2AF726BA25EE}">
      <dsp:nvSpPr>
        <dsp:cNvPr id="0" name=""/>
        <dsp:cNvSpPr/>
      </dsp:nvSpPr>
      <dsp:spPr>
        <a:xfrm>
          <a:off x="8904003" y="2890959"/>
          <a:ext cx="258618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1800" b="1" kern="1200" cap="all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Contact de maintenance </a:t>
          </a:r>
        </a:p>
      </dsp:txBody>
      <dsp:txXfrm>
        <a:off x="8904003" y="2890959"/>
        <a:ext cx="258618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96972-3E41-4D58-B2AE-4B0C5A14FD73}" type="datetimeFigureOut">
              <a:rPr lang="fr-FR" smtClean="0"/>
              <a:t>09/06/2025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99843-168D-46C8-BE8F-EF4E0FBC57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603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9259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9089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60BAF-F3C4-B7F7-5108-C7CFE56D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42BB150-5695-4CE0-DA50-7BA48852F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201420B-8306-6B11-A426-F87C73396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64CF80-CDCC-4E07-49FE-81BF342A9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3269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914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37738-1282-F8CA-B344-9E6E78A2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E94EA84-FCA6-116C-0F78-F0CE8B1BF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A3C3612-7DFC-DB49-76C3-C51476DF7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6AF88A-9EDE-A458-6720-01ED05556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2782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69E3D-3556-31C2-CB19-101DF173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EE5559A-63EF-E922-09CF-AF1D24A3C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A7B2DBF-B4A8-3DA0-A150-E6A414F0C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478C7E-4C7A-CC98-BDFE-0F17828D2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2138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B7F5D-1FAD-610F-88FF-CF9422A5C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5126BD4-0269-4431-B72F-6993AA727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00BF0AE-07EC-3701-CD7A-FDA94FCD5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C057AF-037E-831A-4425-92A960627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4963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1A9EE-CBE1-1FF2-8C97-53DD7E7F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3A0CAD-50F6-E069-7916-57B2D364D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20AAE2B-E17E-60FD-7B1A-8886CBC23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3E38C8-8C93-2749-8677-0695C3A44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5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FB21-BC32-937A-D965-B0122A7C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2BEEE0A-B18F-F47E-1051-8D804209D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4605CE9-833B-6D14-93E1-E40EBF22A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C8C582-805C-BD72-4695-DC86C9E9C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350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1E7F6-EDBE-F60F-79BB-CA6E45725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34B0453-2CA5-4B07-3AB2-3F8FBA15C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A959389-8BDB-862C-9E1F-161426B8E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340B73-43A3-684A-3A47-CFB7987F4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9275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9810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F8597-9EE3-F9BE-F0FD-E2BAB430B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EE1D14D-D794-96A1-1D6C-58E733BA5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2228B1-7278-5230-229E-AE3C4C5AC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A94D42-8588-8D56-B0AA-4B752B9DC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1861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342D9-1240-35C7-703B-36A05CF47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EC35DA3-72FA-FCBA-ED96-74F29713A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21D79C0-B7AD-B031-AD96-4D337687C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593591-7F24-C2E3-72FD-EC3B1981D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0787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E143B-C9F9-5E9F-F5B1-F5C55613C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6C8A777-67CD-FB13-5A00-2BF5C52B7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DABDB48-EE15-8F34-EC0F-253D1D20B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02F4C7-835D-F307-0712-1087BFAE9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77905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C4EC7-497C-7AE9-EA59-317CC22AA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10DFE7-C180-995C-7B36-5D4929C46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30A13F1-2AB0-65F4-2899-D42EE98E8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5AF175-2E74-FBFE-AB62-6BFE28B5C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384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1A33D-1422-669D-31EC-4162B0DAE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1C14A44-2731-096C-6046-7026306FE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3A28DB1-403E-679D-04E7-66C5EB62A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A2A221-FE5F-4F8F-15B0-1096A4E2C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1839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9EE8B-1E71-DB10-1840-3F985C1E0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086B076-270F-FF56-CCD9-5AB26F0C5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9381A7A-6586-5A5C-7232-B553044C9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053BDC-7CE2-7281-8E3B-300B6ACD8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8406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6E34F-5F64-D610-7B45-E132BB8E2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DB75CE8-15F4-B610-A196-5E586AF06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02C8600-0E1E-B0DB-55AF-5657C5AD0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E34C0B-6A43-F282-9F5A-1220C3CBF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22458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2B170-318A-0D35-B498-05A16E0E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8372959-FB61-4DF8-A2F8-1F368A021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5A3DAE2-6BF9-F42B-FD2C-C6B979702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C05626-A377-3AA3-C03F-E84DAE7BF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51557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C22C5-9E0B-5C49-DDA8-C2DE479E4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57B174F-1552-FC90-6516-A87D3871E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79780D0-E09B-8EF9-F3E3-DF2114020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22C025-D16F-22DB-0B4A-E1E840EDB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4524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3C87E-39E4-59B6-ED40-FBF1DCF34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D1F0D33-7C6E-505E-6894-346973BDC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DAE3C91-8AB8-DB2C-0451-9E6477343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BEEC2F-BCD5-14DF-77E7-EF5697642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6699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F4F84-619E-7B8A-3925-DA7F80B6B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1AD3868-0292-A9D6-B742-D67390A78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BD7747D-5CB0-A562-A40E-68B8B9469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F2A064-C1EF-328A-BFB4-4D179208B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965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FBCC8-058A-67BF-D6E8-06454B6F9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BDC2C58-E0EF-42C9-6255-AEC0EDFFC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8F56089-4E76-9E0F-4D51-856B4CBD8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BD61E4-E188-DE16-A4C9-FFE8FB8A0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42418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1668A-89EB-D291-8CB7-029B0D19D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9392631-64AE-4B12-C21A-CACEBDC48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B34304-E443-5D7D-DBD7-B792E68EB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33E89C-600A-9356-AD60-0B7FA5881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95181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86D05-CD10-D0A3-FC53-E424FA27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E7CAFB-F6FA-0BE2-8847-AA592CA5D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D94DAF0-F1F0-8B62-5AC0-41E16C876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1B5783-6C13-46A2-9BE0-3E8EBAC8A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18770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AA63B-9000-9B63-1661-47E2ABCDF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64118ED-4ACF-E12B-89AD-743B50DF5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E8BDA4F-7D1E-10FA-D8B6-042A57E8F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471CFE-EF3E-939A-63E7-7AC11D8F1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4205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89BA8-828C-1D0E-A54E-2F14046B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D5A1383-2564-91D1-BF80-A9FCF2426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2FF0340-C60D-876E-BB18-77E781327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2E25AE-8CDF-9E20-06A0-2D46EB722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15565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F9474-A8E1-44C2-8CB9-CB234DF3D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8F34D6A-BE55-6A3B-690B-67C587EC1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31ACB0-352F-053B-8192-A704F500B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453A6E-2D1A-83E7-B1DE-F154D8152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7394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7416D-D5DE-6E18-B439-FD110448B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1044F0B-40AA-197E-2F1B-A6D084D09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EA8E9B2-C84F-55C4-E2C1-1C6EF0B04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508479-763E-BD0E-C679-7AF28B9FD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8937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7DFC8-173A-6161-2F69-3FC35DE57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D0EB2B7-7BE0-F572-A4C7-BC27E8AA4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23152AB-05E9-08BB-11B8-6C9F6AD4B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E7E957-7C8A-F627-D155-1D81430AA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47694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22F00-A7B2-4CE4-47F9-D676158A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BAC016E-38A1-BAA7-D14F-A17239384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FD8C9D7-76C2-07D7-2734-E5794F736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C5047A-8EC2-6E95-33E3-30F01631F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691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8700F-A524-1C68-7A23-52495A2AD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FDFF667-0159-91C6-E340-FD6940F36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DDD9869-ED5B-BCBE-09C5-6282C35AC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34F161-9C08-CF46-4EB3-4808F325E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36679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81CB3-214D-81F1-8A7B-1A3D61A2C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737E3BB-97A7-6025-A44F-8D8D58DE6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28C11A9-CCCA-E667-9AB6-6AAA47706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08134D-11D7-773D-6A34-4DDF32EF4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09274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377D7-3EE0-2BE9-CDA3-2624B8B4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51A7088-9CC8-15EE-8495-FF9133A54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0D61847-B104-3435-742B-5E3EB9BB3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66A8C1-8275-2D9C-A1B8-53D68CB71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04259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BE096-7D7F-12D1-9293-1A2E7AA74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B62079D-8407-EA5A-7E6C-11C9CBC78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01A0A7B-5831-E5D2-1885-E0741476B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A61D98-F00F-5C20-2838-2987F9BD7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2575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22AB1-994D-0E98-ACBE-49A066E17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FE29BF3-C82C-1021-3425-E5C715F4A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E252700-E2F4-7E7E-762B-E842E986F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817BD0-7AAB-A1F9-CB4E-1987B8B48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71098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0B88-18FE-9559-D716-5DD09E32A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213D53E-F89F-F586-F511-F4E709A05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7D8B20-B8FB-849F-5DF4-911664DB7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6EADE8-8F94-BEC8-8152-61BAA88E7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05600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D8D6F-7EBA-D886-5509-4643FFED5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040E9CF-06F2-360B-A2FD-8681A5AB0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B08CB46-9BEA-988F-EEF9-000B8D6D6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373A5F-66A2-E79E-3C48-ECF3A9CCB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8272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D8E11-E48E-AB86-2C4E-49B1F5CD0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473D54A-2174-6354-701C-96DDFA381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C797031-84BF-0D2C-F763-3275B0D5E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endParaRPr lang="fr-FR" b="0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15D69D-417E-20E1-4FA3-2CC59F56C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91610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F1CD-3116-C978-ECF0-11AA32928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6F61245-997F-AFE0-182D-644F8F74A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D6D9EA6-873D-6003-9BAB-C5140A740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D52D5D-3C8B-8C31-464F-7F58036E0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80059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E7273-1789-A5AC-CDFC-590B7109B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FB9D6F-9EF9-27CD-C6B8-54A2EE028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5E9CD82-A5CE-C967-7EB9-BFFB98B04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B90AED-9EA1-F7B4-BB4C-11476E78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30706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EB056-8CC6-B2EB-4A5C-6281A9A7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25EB8D6-9D71-992E-EA42-A45AAF5BB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761AC27-951E-DF09-806A-65ED82254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EA2834-58FD-2186-7758-6093BE736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9843-168D-46C8-BE8F-EF4E0FBC5722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143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9E89-2E5B-49F8-8BE0-523DE0DCEF10}" type="datetime1">
              <a:rPr lang="fr-FR" smtClean="0"/>
              <a:t>09/06/2025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14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/>
          <a:lstStyle>
            <a:lvl1pPr marL="0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F275E-0E39-4871-9C93-C475C488E4B8}" type="datetime1">
              <a:rPr lang="fr-FR" smtClean="0"/>
              <a:t>09/06/2025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110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507F-6A06-42F2-BE09-E67D90F3AD36}" type="datetime1">
              <a:rPr lang="fr-FR" smtClean="0"/>
              <a:t>09/06/2025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15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22368-6F39-4BFA-90D8-BC72AF5398C3}" type="datetime1">
              <a:rPr lang="fr-FR" smtClean="0"/>
              <a:t>09/06/2025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544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610863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394" y="1438176"/>
            <a:ext cx="5555646" cy="4140612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1411547"/>
            <a:ext cx="5494686" cy="4140612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8C28-3632-42CC-966A-56E6900CA59A}" type="datetime1">
              <a:rPr lang="fr-FR" smtClean="0"/>
              <a:t>09/06/2025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5763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B3AB9-12DE-44AA-B0AF-D08612DB9B34}" type="datetime1">
              <a:rPr lang="fr-FR" smtClean="0"/>
              <a:t>09/06/2025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0664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D93F4-5DFE-4BF2-B640-0A76994176DB}" type="datetime1">
              <a:rPr lang="fr-FR" smtClean="0"/>
              <a:t>09/06/2025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4D8B171-25EA-4950-AA82-4F9485406C5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998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E1AC203-2170-433F-9F0E-025A3845D747}" type="datetime1">
              <a:rPr lang="fr-FR" smtClean="0"/>
              <a:t>09/06/2025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4D8B171-25EA-4950-AA82-4F9485406C5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30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871E-32DE-4261-8040-46EA56F2876D}" type="datetime1">
              <a:rPr lang="fr-FR" smtClean="0"/>
              <a:t>09/06/2025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0199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ECBA-72C9-4AE3-865A-15F3A596AE8A}" type="datetime1">
              <a:rPr lang="fr-FR" smtClean="0"/>
              <a:t>09/06/2025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5411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DE40B-2349-4883-9B0F-66C5CEDCCB57}" type="datetime1">
              <a:rPr lang="fr-FR" smtClean="0"/>
              <a:t>09/06/2025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6325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B26166-06B8-0581-C54C-9BCAD2143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00B430-CE91-988C-DAE4-620CCE642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5BA758-E902-1567-8373-487B41DFA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500F6-02AB-4983-BA82-D3518DF987D4}" type="datetime1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06BDE0-415A-CFD2-44D7-836576D79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292257-8C36-E0E8-CBDD-0524DE6C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025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7D9D5-03D0-DE82-0BFC-B45A3DDCA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B94BED-FA97-8D39-2851-A0FE59447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AC38BA-2BC2-6E74-E22D-7882A797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87F1-A9A8-475D-B90C-5064CDE4ECA4}" type="datetime1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D0D32F-2D2C-64FE-E75E-503019F92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F16736-733A-57C5-6EC0-D3649F332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5762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E24F75-696C-72E1-8293-71F1B2EE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D8C900-CCF0-52C9-9F13-4802B5D25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F13A00-CC06-ECA0-4632-D22254541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0BAA6-DA9C-4E4E-BDF2-B9A707B93019}" type="datetime1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EE62D9-AFCA-8895-B2E5-12A6A00F5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DB45FD-147B-873F-7A8C-357C6EA0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936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E8992E-9A0D-7CFC-7A6C-96C5D8738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B8B844-B7C5-E392-D812-BF1FA9D62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547CAD-9802-A805-FB44-B076C3589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6F2D32-A447-8473-E46B-54E774B66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0B228-C49D-4649-B356-A080B910D1E8}" type="datetime1">
              <a:rPr lang="fr-FR" smtClean="0"/>
              <a:t>09/06/2025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8696EB-081E-6147-8598-1CB9AD934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B61243-748D-E4B4-9A2B-520962D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2568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C6D347-83AD-0A3F-62A0-C503C4F12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CE71B3-4172-45CF-4658-61CE70210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FFA6FCF-E158-95C6-75CB-72E722F18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A51D9D-89A6-2881-FC05-5770B16C2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9E1D18C-79D2-DA3E-7A0F-0FAAF93E8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296122C-E0DA-4E57-001B-C845B2F0E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44F9-86F7-49E9-AC28-5FC71B2CABDA}" type="datetime1">
              <a:rPr lang="fr-FR" smtClean="0"/>
              <a:t>09/06/2025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9AB1F82-3E8E-861F-6A5E-DA933A2AE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4019527-69F0-E540-E21C-7F90DFBA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7620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17A44F-7B20-FFFB-0EC9-C0A09F30B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52ECC7B-8D2D-B925-CAA1-A96DFC5BC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5C6C8-D902-41D6-AFA9-86EFAC2D7DA0}" type="datetime1">
              <a:rPr lang="fr-FR" smtClean="0"/>
              <a:t>09/06/2025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75F03F7-2847-8268-0BF5-D8C633DD1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F921795-B726-8C8C-9D51-AC4AC4D0F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4512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6159E40-CC4B-846A-C652-2E7D96636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CE6C8-50B2-48A1-A058-041B14F30552}" type="datetime1">
              <a:rPr lang="fr-FR" smtClean="0"/>
              <a:t>09/06/2025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F1E5D1D-D807-5D3F-E95C-358F1D930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59D912-A2F5-161C-B167-53D8520CE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16596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69711A-B6EC-65B4-E9CF-C3853D185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644B3A-62D6-B1B5-6651-D893439C2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31A7CF-A4A6-5070-55ED-39FE2B0B2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EFF57F-17CD-8C8E-CE39-092B4461D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10E8-980B-435D-8ED5-9F2620BA7414}" type="datetime1">
              <a:rPr lang="fr-FR" smtClean="0"/>
              <a:t>09/06/2025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AD7223B-B48A-61E6-7A7D-B7003420F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572F8B-6642-0E83-1350-C54D855A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955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4362EC-2DB3-49D9-D638-2418ACE23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357A207-99FB-B007-32D9-26B3E54A57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9B3C96-97BA-1E53-E265-E73F25A74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AB6335-B28F-F672-B2FC-62189C3B3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CB024-72EC-4927-AB44-6DFB5D611F90}" type="datetime1">
              <a:rPr lang="fr-FR" smtClean="0"/>
              <a:t>09/06/2025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6ACEA6-96B4-D190-D59E-C075466DF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8AE38E-2233-CB1B-3904-581DD70F7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73454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E62868-7D87-7362-77AE-AA52A061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012A5CF-5143-903E-8961-C4E07EA5B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169F92-D8BE-92AC-1C10-512DD82A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F4849-5B40-482C-8289-A80DC8EFD1F6}" type="datetime1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A30A9C-9C6C-673C-E6BD-52E7B9D75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C460D5-B90E-A100-FBF6-254F8894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0956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94DE4E6-1FEE-E114-D76D-9886C1CBE9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864DFC-C590-CEBD-BB63-B804DEFD4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4EB69-50C3-EA86-7FDF-DC0CBA827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702A-83D1-4D47-B65D-B0B0D0B73F5C}" type="datetime1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9A1A18-37E1-5D53-7291-4CC39E553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0B70E8-0914-7CB9-E0AB-6338EA8C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847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36771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F4148AC-90E7-4AE5-BE93-6278A1C34F5B}" type="datetime1">
              <a:rPr lang="fr-FR" smtClean="0"/>
              <a:t>09/06/2025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A4D8B171-25EA-4950-AA82-4F9485406C51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91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B104A5C-C04A-4293-5FD7-E901E75B3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66B896-7513-138B-5222-CBABB36C3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D22572-B7CE-012F-F326-0D178E633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3FB726-9EA2-4CC4-89A8-AEB18897E4FB}" type="datetime1">
              <a:rPr lang="fr-FR" smtClean="0"/>
              <a:t>09/06/2025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71517F-7FBA-A17C-733B-FA0C5F628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AD914B-1C8E-BCD5-3682-F74A51FE7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4038B-4ED9-42F3-8F08-4C87D8E125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2483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istorique de la technologie des blocs bleus et des réseaux">
            <a:extLst>
              <a:ext uri="{FF2B5EF4-FFF2-40B4-BE49-F238E27FC236}">
                <a16:creationId xmlns:a16="http://schemas.microsoft.com/office/drawing/2014/main" id="{0B5EC820-379B-99E8-7745-82DB0B16739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b="-44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24423DC-8A90-AF11-5AAC-107F7B7B3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1094700" cy="3566160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Projet 5:</a:t>
            </a:r>
            <a:r>
              <a:rPr lang="fr-FR" dirty="0"/>
              <a:t>Segmentez des clients d'un site e-commerce</a:t>
            </a:r>
            <a:br>
              <a:rPr lang="fr-FR" b="1" i="0" dirty="0">
                <a:solidFill>
                  <a:srgbClr val="271A38"/>
                </a:solidFill>
                <a:effectLst/>
                <a:latin typeface="Inter"/>
              </a:rPr>
            </a:br>
            <a:endParaRPr lang="fr-FR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9203BBD-1CD8-E13D-5BA9-C7A931D65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>
            <a:normAutofit/>
          </a:bodyPr>
          <a:lstStyle/>
          <a:p>
            <a:r>
              <a:rPr lang="fr-FR" sz="15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Master 2 Data scientist </a:t>
            </a:r>
            <a:r>
              <a:rPr lang="fr-FR" sz="1500" noProof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openclassrooms</a:t>
            </a:r>
            <a:endParaRPr lang="fr-FR" sz="1500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FR" sz="15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Présenté par : ATTIG Hakim-AMIN</a:t>
            </a:r>
          </a:p>
          <a:p>
            <a:r>
              <a:rPr lang="fr-FR" sz="15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 </a:t>
            </a:r>
            <a:r>
              <a:rPr lang="fr-FR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  <a:r>
              <a:rPr lang="fr-FR" sz="15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avril 2025 </a:t>
            </a:r>
          </a:p>
          <a:p>
            <a:endParaRPr lang="fr-FR" sz="7200" spc="-50" dirty="0">
              <a:solidFill>
                <a:schemeClr val="tx1">
                  <a:lumMod val="85000"/>
                  <a:lumOff val="15000"/>
                </a:schemeClr>
              </a:solidFill>
              <a:ea typeface="+mj-ea"/>
              <a:cs typeface="+mj-cs"/>
            </a:endParaRPr>
          </a:p>
          <a:p>
            <a:endParaRPr lang="fr-FR" sz="1500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AB95BF-57D0-4E49-9EF2-408B47C8D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C520CBD-F82E-44E4-BDA5-128716AD7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18AE32-A526-42FC-A854-732740BD3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71C185-3281-AD53-9F20-A49DFC7F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6845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6D16D1E-4205-49F5-BD2A-DA769947C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2FD100-C039-4E03-B5E4-2EDFA7290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4193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418FCD2-8448-4A81-8EB4-72250F78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F9E80720-23E6-4B89-B77E-04A7689F1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1D3CA1-3EB6-41F3-A419-8424B56BE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6B9AD57-7255-9239-7A43-6418FDFA8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52936"/>
            <a:ext cx="10058400" cy="10287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noProof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87F7B2-AA36-4B58-BC2C-1BBA135E8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421DE1-92AA-0FEE-E09E-0A3648D14598}"/>
              </a:ext>
            </a:extLst>
          </p:cNvPr>
          <p:cNvSpPr txBox="1">
            <a:spLocks/>
          </p:cNvSpPr>
          <p:nvPr/>
        </p:nvSpPr>
        <p:spPr>
          <a:xfrm>
            <a:off x="1097280" y="1988288"/>
            <a:ext cx="10058400" cy="3880806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fr-FR" noProof="0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FE57EC04-AE44-2AE3-DF8E-058E24952B23}"/>
              </a:ext>
            </a:extLst>
          </p:cNvPr>
          <p:cNvSpPr txBox="1">
            <a:spLocks/>
          </p:cNvSpPr>
          <p:nvPr/>
        </p:nvSpPr>
        <p:spPr>
          <a:xfrm>
            <a:off x="1097280" y="2228850"/>
            <a:ext cx="10058400" cy="3640244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fr-FR" noProof="0" dirty="0"/>
          </a:p>
        </p:txBody>
      </p:sp>
      <p:graphicFrame>
        <p:nvGraphicFramePr>
          <p:cNvPr id="9" name="ZoneTexte 6">
            <a:extLst>
              <a:ext uri="{FF2B5EF4-FFF2-40B4-BE49-F238E27FC236}">
                <a16:creationId xmlns:a16="http://schemas.microsoft.com/office/drawing/2014/main" id="{AE5CE005-9238-4BE2-F9CF-ACA17F5290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840176"/>
              </p:ext>
            </p:extLst>
          </p:nvPr>
        </p:nvGraphicFramePr>
        <p:xfrm>
          <a:off x="182880" y="643466"/>
          <a:ext cx="11836400" cy="4159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Ellipse 5">
            <a:extLst>
              <a:ext uri="{FF2B5EF4-FFF2-40B4-BE49-F238E27FC236}">
                <a16:creationId xmlns:a16="http://schemas.microsoft.com/office/drawing/2014/main" id="{32B720C4-D653-C728-90C7-79D256578313}"/>
              </a:ext>
            </a:extLst>
          </p:cNvPr>
          <p:cNvSpPr/>
          <p:nvPr/>
        </p:nvSpPr>
        <p:spPr>
          <a:xfrm>
            <a:off x="2529832" y="2803141"/>
            <a:ext cx="1789283" cy="696342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pPr algn="ctr"/>
            <a:r>
              <a:rPr lang="fr-FR" b="1" cap="all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Mission 2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597EC12-D9EC-145C-9BFC-1EF9C894C60C}"/>
              </a:ext>
            </a:extLst>
          </p:cNvPr>
          <p:cNvSpPr/>
          <p:nvPr/>
        </p:nvSpPr>
        <p:spPr>
          <a:xfrm>
            <a:off x="2580635" y="1460117"/>
            <a:ext cx="1738480" cy="696342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pPr algn="ctr"/>
            <a:r>
              <a:rPr lang="fr-FR" b="1" cap="all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Mission 1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7C5E8477-99F8-B6CA-F670-FB1E0E16D474}"/>
              </a:ext>
            </a:extLst>
          </p:cNvPr>
          <p:cNvSpPr/>
          <p:nvPr/>
        </p:nvSpPr>
        <p:spPr>
          <a:xfrm rot="1517246">
            <a:off x="1731813" y="2841122"/>
            <a:ext cx="812800" cy="114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EAD592DE-0FE6-2475-82C8-675763530089}"/>
              </a:ext>
            </a:extLst>
          </p:cNvPr>
          <p:cNvSpPr/>
          <p:nvPr/>
        </p:nvSpPr>
        <p:spPr>
          <a:xfrm rot="20380434">
            <a:off x="1742850" y="1981124"/>
            <a:ext cx="812800" cy="114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1C5DF9C3-3CFC-74F8-1319-2B5D210D964E}"/>
              </a:ext>
            </a:extLst>
          </p:cNvPr>
          <p:cNvSpPr/>
          <p:nvPr/>
        </p:nvSpPr>
        <p:spPr>
          <a:xfrm rot="1300369">
            <a:off x="4372375" y="1938649"/>
            <a:ext cx="812800" cy="114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0B0A6F2E-1289-C69F-72B3-AEB4ECE32028}"/>
              </a:ext>
            </a:extLst>
          </p:cNvPr>
          <p:cNvSpPr/>
          <p:nvPr/>
        </p:nvSpPr>
        <p:spPr>
          <a:xfrm rot="20380434">
            <a:off x="4360302" y="2919347"/>
            <a:ext cx="812800" cy="114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8C4143CD-C2B8-088B-A7D2-B0C3777F5D60}"/>
              </a:ext>
            </a:extLst>
          </p:cNvPr>
          <p:cNvSpPr/>
          <p:nvPr/>
        </p:nvSpPr>
        <p:spPr>
          <a:xfrm>
            <a:off x="6852794" y="2373887"/>
            <a:ext cx="812800" cy="114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A1DE4432-61A7-02CD-2CAC-01E760318A4A}"/>
              </a:ext>
            </a:extLst>
          </p:cNvPr>
          <p:cNvSpPr/>
          <p:nvPr/>
        </p:nvSpPr>
        <p:spPr>
          <a:xfrm>
            <a:off x="9423552" y="2385240"/>
            <a:ext cx="812800" cy="114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8CC206-6B97-C826-C6D3-053FD474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9903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0AD02-33A4-2050-2360-7557F16C6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44A28E-D2E5-439D-3099-CF5712990F65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182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6354CC-B250-E838-7BA9-76CFD0FB5BAD}"/>
              </a:ext>
            </a:extLst>
          </p:cNvPr>
          <p:cNvSpPr txBox="1">
            <a:spLocks/>
          </p:cNvSpPr>
          <p:nvPr/>
        </p:nvSpPr>
        <p:spPr>
          <a:xfrm>
            <a:off x="1066800" y="1437245"/>
            <a:ext cx="10058400" cy="446891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4516170-EDCE-B725-5DB6-EF635C76A11B}"/>
              </a:ext>
            </a:extLst>
          </p:cNvPr>
          <p:cNvSpPr txBox="1"/>
          <p:nvPr/>
        </p:nvSpPr>
        <p:spPr>
          <a:xfrm>
            <a:off x="479442" y="1437245"/>
            <a:ext cx="5810147" cy="4516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404040"/>
                </a:solidFill>
              </a:rPr>
              <a:t>Présentation d’</a:t>
            </a:r>
            <a:r>
              <a:rPr lang="fr-FR" sz="2000" b="1" dirty="0" err="1">
                <a:solidFill>
                  <a:srgbClr val="404040"/>
                </a:solidFill>
              </a:rPr>
              <a:t>Olist</a:t>
            </a:r>
            <a:r>
              <a:rPr lang="fr-FR" sz="2000" b="1" dirty="0">
                <a:solidFill>
                  <a:srgbClr val="404040"/>
                </a:solidFill>
              </a:rPr>
              <a:t>:</a:t>
            </a: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sz="2000" b="1" i="0" dirty="0">
                <a:solidFill>
                  <a:srgbClr val="404040"/>
                </a:solidFill>
                <a:effectLst/>
                <a:latin typeface="DeepSeek-CJK-patch"/>
              </a:rPr>
              <a:t>Plateforme e-commerce brésilienne</a:t>
            </a:r>
            <a:r>
              <a:rPr lang="fr-FR" sz="2000" b="0" i="0" dirty="0">
                <a:solidFill>
                  <a:srgbClr val="404040"/>
                </a:solidFill>
                <a:effectLst/>
                <a:latin typeface="DeepSeek-CJK-patch"/>
              </a:rPr>
              <a:t> : </a:t>
            </a:r>
            <a:r>
              <a:rPr lang="fr-FR" sz="2000" b="0" i="0" dirty="0" err="1">
                <a:solidFill>
                  <a:srgbClr val="404040"/>
                </a:solidFill>
                <a:effectLst/>
                <a:latin typeface="DeepSeek-CJK-patch"/>
              </a:rPr>
              <a:t>Olist</a:t>
            </a:r>
            <a:r>
              <a:rPr lang="fr-FR" sz="2000" b="0" i="0" dirty="0">
                <a:solidFill>
                  <a:srgbClr val="404040"/>
                </a:solidFill>
                <a:effectLst/>
                <a:latin typeface="DeepSeek-CJK-patch"/>
              </a:rPr>
              <a:t> connecte des milliers de vendeurs aux grandes marketplaces du pays.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sz="2000" b="1" i="0" dirty="0">
                <a:solidFill>
                  <a:srgbClr val="404040"/>
                </a:solidFill>
                <a:effectLst/>
                <a:latin typeface="DeepSeek-CJK-patch"/>
              </a:rPr>
              <a:t>Infrastructure complète</a:t>
            </a:r>
            <a:r>
              <a:rPr lang="fr-FR" sz="2000" b="0" i="0" dirty="0">
                <a:solidFill>
                  <a:srgbClr val="404040"/>
                </a:solidFill>
                <a:effectLst/>
                <a:latin typeface="DeepSeek-CJK-patch"/>
              </a:rPr>
              <a:t> : Gestion des commandes, logistique et relation client simplifiées.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sz="2000" b="1" i="0" dirty="0">
                <a:solidFill>
                  <a:srgbClr val="404040"/>
                </a:solidFill>
                <a:effectLst/>
                <a:latin typeface="DeepSeek-CJK-patch"/>
              </a:rPr>
              <a:t>Avantages pour les vendeurs</a:t>
            </a:r>
            <a:r>
              <a:rPr lang="fr-FR" sz="2000" b="0" i="0" dirty="0">
                <a:solidFill>
                  <a:srgbClr val="404040"/>
                </a:solidFill>
                <a:effectLst/>
                <a:latin typeface="DeepSeek-CJK-patch"/>
              </a:rPr>
              <a:t> : Meilleure visibilité et accès élargi au marché.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FR" sz="2000" b="1" i="0" dirty="0">
                <a:solidFill>
                  <a:srgbClr val="404040"/>
                </a:solidFill>
                <a:effectLst/>
                <a:latin typeface="DeepSeek-CJK-patch"/>
              </a:rPr>
              <a:t>Stratégie data-</a:t>
            </a:r>
            <a:r>
              <a:rPr lang="fr-FR" sz="2000" b="1" i="0" dirty="0" err="1">
                <a:solidFill>
                  <a:srgbClr val="404040"/>
                </a:solidFill>
                <a:effectLst/>
                <a:latin typeface="DeepSeek-CJK-patch"/>
              </a:rPr>
              <a:t>driven</a:t>
            </a:r>
            <a:r>
              <a:rPr lang="fr-FR" sz="2000" b="0" i="0" dirty="0">
                <a:solidFill>
                  <a:srgbClr val="404040"/>
                </a:solidFill>
                <a:effectLst/>
                <a:latin typeface="DeepSeek-CJK-patch"/>
              </a:rPr>
              <a:t> : La connaissance client permet de personnaliser la communication, fidéliser et booster les ventes.</a:t>
            </a:r>
          </a:p>
          <a:p>
            <a:pPr algn="l">
              <a:lnSpc>
                <a:spcPts val="2143"/>
              </a:lnSpc>
              <a:spcBef>
                <a:spcPts val="1029"/>
              </a:spcBef>
            </a:pPr>
            <a:r>
              <a:rPr lang="fr-FR" sz="2000" b="0" i="0" dirty="0">
                <a:solidFill>
                  <a:srgbClr val="404040"/>
                </a:solidFill>
                <a:effectLst/>
                <a:latin typeface="DeepSeek-CJK-patch"/>
              </a:rPr>
              <a:t>En bref, </a:t>
            </a:r>
            <a:r>
              <a:rPr lang="fr-FR" sz="2000" b="0" i="0" dirty="0" err="1">
                <a:solidFill>
                  <a:srgbClr val="404040"/>
                </a:solidFill>
                <a:effectLst/>
                <a:latin typeface="DeepSeek-CJK-patch"/>
              </a:rPr>
              <a:t>Olist</a:t>
            </a:r>
            <a:r>
              <a:rPr lang="fr-FR" sz="2000" b="0" i="0" dirty="0">
                <a:solidFill>
                  <a:srgbClr val="404040"/>
                </a:solidFill>
                <a:effectLst/>
                <a:latin typeface="DeepSeek-CJK-patch"/>
              </a:rPr>
              <a:t> est un intermédiaire technologique qui facilite la vente en ligne pour les PME brésiliennes. 🚀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7DB7EDB-A9D1-2EA3-C13F-7FED9E98B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484" y="1059463"/>
            <a:ext cx="4739074" cy="4739074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6C52CE-B914-A0AE-3798-A5643EA59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4773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C46C14-445C-ABEC-B5EC-05581C351F25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182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404040"/>
                </a:solidFill>
                <a:latin typeface="DeepSeek-CJK-patch"/>
                <a:ea typeface="+mn-ea"/>
                <a:cs typeface="+mn-cs"/>
              </a:rPr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286E50-FA5C-BF29-3305-47D4F0622D0C}"/>
              </a:ext>
            </a:extLst>
          </p:cNvPr>
          <p:cNvSpPr txBox="1">
            <a:spLocks/>
          </p:cNvSpPr>
          <p:nvPr/>
        </p:nvSpPr>
        <p:spPr>
          <a:xfrm>
            <a:off x="1097280" y="1400175"/>
            <a:ext cx="10058400" cy="446891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fr-FR" b="1" dirty="0"/>
              <a:t>📊 Résumé de la mission – Partie I : Dashboard Customer </a:t>
            </a:r>
            <a:r>
              <a:rPr lang="fr-FR" b="1" dirty="0" err="1"/>
              <a:t>Experience</a:t>
            </a:r>
            <a:endParaRPr lang="fr-FR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Projet réalisé sous la direction de </a:t>
            </a:r>
            <a:r>
              <a:rPr lang="fr-FR" b="1" dirty="0" err="1"/>
              <a:t>Fernanda</a:t>
            </a:r>
            <a:r>
              <a:rPr lang="fr-FR" dirty="0"/>
              <a:t>, Lead Data </a:t>
            </a:r>
            <a:r>
              <a:rPr lang="fr-FR" dirty="0" err="1"/>
              <a:t>Analyst</a:t>
            </a:r>
            <a:r>
              <a:rPr lang="fr-F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Mise en place de </a:t>
            </a:r>
            <a:r>
              <a:rPr lang="fr-FR" b="1" dirty="0"/>
              <a:t>requêtes SQL urgentes</a:t>
            </a:r>
            <a:r>
              <a:rPr lang="fr-FR" dirty="0"/>
              <a:t> pour alimenter un </a:t>
            </a:r>
            <a:r>
              <a:rPr lang="fr-FR" b="1" dirty="0" err="1"/>
              <a:t>dashboard</a:t>
            </a:r>
            <a:r>
              <a:rPr lang="fr-FR" b="1" dirty="0"/>
              <a:t> clé</a:t>
            </a:r>
            <a:r>
              <a:rPr lang="fr-F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Objectif du </a:t>
            </a:r>
            <a:r>
              <a:rPr lang="fr-FR" dirty="0" err="1"/>
              <a:t>dashboard</a:t>
            </a:r>
            <a:r>
              <a:rPr lang="fr-FR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Suivre les </a:t>
            </a:r>
            <a:r>
              <a:rPr lang="fr-FR" b="1" dirty="0"/>
              <a:t>KPIs critiques</a:t>
            </a:r>
            <a:r>
              <a:rPr lang="fr-FR" dirty="0"/>
              <a:t> (par état, ville, vendeur),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/>
              <a:t>Identifier les zones à risque</a:t>
            </a:r>
            <a:r>
              <a:rPr lang="fr-FR" dirty="0"/>
              <a:t> nécessitant un suivi client renforcé.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Finalité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Fournir une </a:t>
            </a:r>
            <a:r>
              <a:rPr lang="fr-FR" b="1" dirty="0"/>
              <a:t>visibilité en temps réel</a:t>
            </a:r>
            <a:r>
              <a:rPr lang="fr-FR" dirty="0"/>
              <a:t> aux équipes opérationnelles,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42D5A4-5A7C-9956-D0D3-71167CC4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925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1FF9-0287-534C-293D-D5A5A20AF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48A4E2-75D6-9730-13AB-28C62479B01D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182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b="1" i="0" dirty="0">
                <a:solidFill>
                  <a:srgbClr val="404040"/>
                </a:solidFill>
                <a:effectLst/>
                <a:latin typeface="DeepSeek-CJK-patch"/>
              </a:rPr>
              <a:t>Projet Dashboard Customer </a:t>
            </a:r>
            <a:r>
              <a:rPr lang="fr-FR" sz="4800" b="1" i="0" dirty="0" err="1">
                <a:solidFill>
                  <a:srgbClr val="404040"/>
                </a:solidFill>
                <a:effectLst/>
                <a:latin typeface="DeepSeek-CJK-patch"/>
              </a:rPr>
              <a:t>Experience</a:t>
            </a:r>
            <a:endParaRPr lang="fr-FR" sz="4800" b="1" i="0" dirty="0">
              <a:solidFill>
                <a:srgbClr val="404040"/>
              </a:solidFill>
              <a:effectLst/>
              <a:latin typeface="DeepSeek-CJK-patch"/>
            </a:endParaRPr>
          </a:p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E62B89-7668-4E11-40D1-E366B26FE99E}"/>
              </a:ext>
            </a:extLst>
          </p:cNvPr>
          <p:cNvSpPr txBox="1">
            <a:spLocks/>
          </p:cNvSpPr>
          <p:nvPr/>
        </p:nvSpPr>
        <p:spPr>
          <a:xfrm>
            <a:off x="1097280" y="1400175"/>
            <a:ext cx="10058400" cy="446891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Résultats des requêtes SQL :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dirty="0">
                <a:latin typeface="Aptos" panose="020B0004020202020204" pitchFamily="34" charset="0"/>
                <a:cs typeface="Times New Roman" panose="02020603050405020304" pitchFamily="18" charset="0"/>
              </a:rPr>
              <a:t>Requête 1 : </a:t>
            </a:r>
            <a:r>
              <a:rPr lang="fr-FR" sz="2000" dirty="0"/>
              <a:t>En excluant les commandes annulées, quelles sont les commandes récentes de moins de 3 mois que les clients ont reçues avec au moins 3 jours de retard ?</a:t>
            </a:r>
            <a:endParaRPr lang="fr-FR" sz="24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AE490F-EBA0-F359-BF5B-D3F4E0068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758" y="2998244"/>
            <a:ext cx="8554644" cy="3238952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86B747-1EB7-694B-957B-B0F528F9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2296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DE9EC-1D97-D060-A18A-FE56BD497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4972DC-9AF8-A75A-FB43-CC12EB8E98EB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182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b="1" i="0" dirty="0">
                <a:solidFill>
                  <a:srgbClr val="404040"/>
                </a:solidFill>
                <a:effectLst/>
                <a:latin typeface="DeepSeek-CJK-patch"/>
              </a:rPr>
              <a:t>Projet Dashboard Customer </a:t>
            </a:r>
            <a:r>
              <a:rPr lang="fr-FR" sz="4800" b="1" i="0" dirty="0" err="1">
                <a:solidFill>
                  <a:srgbClr val="404040"/>
                </a:solidFill>
                <a:effectLst/>
                <a:latin typeface="DeepSeek-CJK-patch"/>
              </a:rPr>
              <a:t>Experience</a:t>
            </a:r>
            <a:endParaRPr lang="fr-FR" sz="4800" b="1" i="0" dirty="0">
              <a:solidFill>
                <a:srgbClr val="404040"/>
              </a:solidFill>
              <a:effectLst/>
              <a:latin typeface="DeepSeek-CJK-patch"/>
            </a:endParaRPr>
          </a:p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2BA7FD-C356-C196-D6EF-095C9731B4E5}"/>
              </a:ext>
            </a:extLst>
          </p:cNvPr>
          <p:cNvSpPr txBox="1">
            <a:spLocks/>
          </p:cNvSpPr>
          <p:nvPr/>
        </p:nvSpPr>
        <p:spPr>
          <a:xfrm>
            <a:off x="1097280" y="1400175"/>
            <a:ext cx="10058400" cy="446891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Résultats des requêtes SQL :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dirty="0">
                <a:latin typeface="Aptos" panose="020B0004020202020204" pitchFamily="34" charset="0"/>
                <a:cs typeface="Times New Roman" panose="02020603050405020304" pitchFamily="18" charset="0"/>
              </a:rPr>
              <a:t>Requête 2 : 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000" dirty="0"/>
              <a:t>Qui sont les vendeurs ayant généré un chiffre d'affaires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000" dirty="0"/>
              <a:t>de plus de 100 000 Real sur des commandes livrées via </a:t>
            </a:r>
            <a:r>
              <a:rPr lang="fr-FR" sz="2000" dirty="0" err="1"/>
              <a:t>Olist</a:t>
            </a:r>
            <a:r>
              <a:rPr lang="fr-FR" sz="2000" dirty="0"/>
              <a:t> ?</a:t>
            </a:r>
            <a:endParaRPr lang="fr-FR" sz="24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B399C09-6D70-54FE-8AEF-AB9EABD9A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295" y="1363140"/>
            <a:ext cx="3048425" cy="4505954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27F6BA-D3B3-C933-0CA2-A99931EC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394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623C3-AEF6-1AE8-5D3E-A1B51800C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7BCE4-F7CD-D969-EAD8-4B2DCFB447EA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182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b="1" i="0" dirty="0">
                <a:solidFill>
                  <a:srgbClr val="404040"/>
                </a:solidFill>
                <a:effectLst/>
                <a:latin typeface="DeepSeek-CJK-patch"/>
              </a:rPr>
              <a:t>Projet Dashboard Customer </a:t>
            </a:r>
            <a:r>
              <a:rPr lang="fr-FR" sz="4800" b="1" i="0" dirty="0" err="1">
                <a:solidFill>
                  <a:srgbClr val="404040"/>
                </a:solidFill>
                <a:effectLst/>
                <a:latin typeface="DeepSeek-CJK-patch"/>
              </a:rPr>
              <a:t>Experience</a:t>
            </a:r>
            <a:endParaRPr lang="fr-FR" sz="4800" b="1" i="0" dirty="0">
              <a:solidFill>
                <a:srgbClr val="404040"/>
              </a:solidFill>
              <a:effectLst/>
              <a:latin typeface="DeepSeek-CJK-patch"/>
            </a:endParaRPr>
          </a:p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5529E1-4319-DD29-AFA0-FD4D721F3F0B}"/>
              </a:ext>
            </a:extLst>
          </p:cNvPr>
          <p:cNvSpPr txBox="1">
            <a:spLocks/>
          </p:cNvSpPr>
          <p:nvPr/>
        </p:nvSpPr>
        <p:spPr>
          <a:xfrm>
            <a:off x="1097280" y="1400175"/>
            <a:ext cx="10058400" cy="446891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Résultats des requêtes SQL :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dirty="0">
                <a:latin typeface="Aptos" panose="020B0004020202020204" pitchFamily="34" charset="0"/>
                <a:cs typeface="Times New Roman" panose="02020603050405020304" pitchFamily="18" charset="0"/>
              </a:rPr>
              <a:t>Requête 3 : </a:t>
            </a:r>
            <a:r>
              <a:rPr lang="fr-FR" sz="2000" dirty="0"/>
              <a:t>Qui sont les nouveaux vendeurs (moins de 3 mois d'ancienneté) qui sont déjà très engagés avec la plateforme (ayant déjà vendu plus de 30 produits) ?</a:t>
            </a:r>
            <a:endParaRPr lang="fr-FR" sz="24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8390A83-039E-411B-C323-90493714F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422" y="3349842"/>
            <a:ext cx="5591955" cy="1438476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8A12F6-A8E7-68DC-A604-4D7CBA80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3295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431FD-4FE6-51D2-83EF-55325B237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420B4E-8A2E-CF75-C02F-8A5CA8CF1602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182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800" b="1" i="0" dirty="0">
                <a:solidFill>
                  <a:srgbClr val="404040"/>
                </a:solidFill>
                <a:effectLst/>
                <a:latin typeface="DeepSeek-CJK-patch"/>
              </a:rPr>
              <a:t>Projet Dashboard Customer </a:t>
            </a:r>
            <a:r>
              <a:rPr lang="fr-FR" sz="4800" b="1" i="0" dirty="0" err="1">
                <a:solidFill>
                  <a:srgbClr val="404040"/>
                </a:solidFill>
                <a:effectLst/>
                <a:latin typeface="DeepSeek-CJK-patch"/>
              </a:rPr>
              <a:t>Experience</a:t>
            </a:r>
            <a:endParaRPr lang="fr-FR" sz="4800" b="1" i="0" dirty="0">
              <a:solidFill>
                <a:srgbClr val="404040"/>
              </a:solidFill>
              <a:effectLst/>
              <a:latin typeface="DeepSeek-CJK-patch"/>
            </a:endParaRPr>
          </a:p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94AD45-EA1B-559E-94D3-553BC812777E}"/>
              </a:ext>
            </a:extLst>
          </p:cNvPr>
          <p:cNvSpPr txBox="1">
            <a:spLocks/>
          </p:cNvSpPr>
          <p:nvPr/>
        </p:nvSpPr>
        <p:spPr>
          <a:xfrm>
            <a:off x="1097280" y="1400175"/>
            <a:ext cx="10058400" cy="4468919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+mj-lt"/>
              <a:buAutoNum type="arabicPeriod"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Résultats des requêtes SQL :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dirty="0">
                <a:latin typeface="Aptos" panose="020B0004020202020204" pitchFamily="34" charset="0"/>
                <a:cs typeface="Times New Roman" panose="02020603050405020304" pitchFamily="18" charset="0"/>
              </a:rPr>
              <a:t>Requête 4 : </a:t>
            </a:r>
            <a:r>
              <a:rPr lang="fr-FR" sz="2000" dirty="0"/>
              <a:t>Quels sont les 5 codes postaux, enregistrant plus de 30 </a:t>
            </a:r>
            <a:r>
              <a:rPr lang="fr-FR" sz="2000" dirty="0" err="1"/>
              <a:t>reviews</a:t>
            </a:r>
            <a:r>
              <a:rPr lang="fr-FR" sz="2000" dirty="0"/>
              <a:t>, avec le pire </a:t>
            </a:r>
            <a:r>
              <a:rPr lang="fr-FR" sz="2000" dirty="0" err="1"/>
              <a:t>review</a:t>
            </a:r>
            <a:r>
              <a:rPr lang="fr-FR" sz="2000" dirty="0"/>
              <a:t> score moyen sur les 12 derniers mois ?</a:t>
            </a:r>
            <a:endParaRPr lang="fr-FR" sz="24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r>
              <a:rPr lang="fr-FR" sz="2400" b="1" noProof="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sz="2400" b="1" noProof="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13CA659-ECBE-74CE-7713-5DD8C6052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109" y="3162832"/>
            <a:ext cx="3524742" cy="1467055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74D8D4-4820-8C5B-C370-C0C2B68CC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2114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0FE0E-5415-657B-6FE3-859F049F1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3CF058-9F2F-6C2B-5156-DC53BD402286}"/>
              </a:ext>
            </a:extLst>
          </p:cNvPr>
          <p:cNvSpPr txBox="1">
            <a:spLocks/>
          </p:cNvSpPr>
          <p:nvPr/>
        </p:nvSpPr>
        <p:spPr>
          <a:xfrm>
            <a:off x="1097280" y="286604"/>
            <a:ext cx="10058400" cy="6182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06ED5-B6CE-C95F-6B07-DA583ED8A674}"/>
              </a:ext>
            </a:extLst>
          </p:cNvPr>
          <p:cNvSpPr txBox="1">
            <a:spLocks/>
          </p:cNvSpPr>
          <p:nvPr/>
        </p:nvSpPr>
        <p:spPr>
          <a:xfrm>
            <a:off x="1097280" y="1400175"/>
            <a:ext cx="10058400" cy="274075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fr-FR" b="1" dirty="0"/>
              <a:t>📊 Résumé de la mission – Partie II : </a:t>
            </a:r>
            <a:r>
              <a:rPr lang="fr-FR" b="1" i="0" dirty="0">
                <a:solidFill>
                  <a:srgbClr val="271A38"/>
                </a:solidFill>
                <a:effectLst/>
                <a:latin typeface="Inter"/>
              </a:rPr>
              <a:t>segmentation des clients</a:t>
            </a:r>
            <a:r>
              <a:rPr lang="fr-FR" b="0" i="0" dirty="0">
                <a:solidFill>
                  <a:srgbClr val="271A38"/>
                </a:solidFill>
                <a:effectLst/>
                <a:latin typeface="Inter"/>
              </a:rPr>
              <a:t> </a:t>
            </a:r>
            <a:endParaRPr lang="fr-FR" b="1" dirty="0"/>
          </a:p>
          <a:p>
            <a:pPr>
              <a:buNone/>
            </a:pPr>
            <a:r>
              <a:rPr lang="fr-FR" b="1" dirty="0"/>
              <a:t>🎯 Objectif principal de la mission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dirty="0"/>
              <a:t>Fournir une </a:t>
            </a:r>
            <a:r>
              <a:rPr lang="fr-FR" b="1" dirty="0"/>
              <a:t>segmentation client exploitable</a:t>
            </a:r>
            <a:r>
              <a:rPr lang="fr-FR" dirty="0"/>
              <a:t> pour les campagnes de communication d’</a:t>
            </a:r>
            <a:r>
              <a:rPr lang="fr-FR" dirty="0" err="1"/>
              <a:t>Olist</a:t>
            </a:r>
            <a:r>
              <a:rPr lang="fr-FR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dirty="0"/>
              <a:t>Comprendre les </a:t>
            </a:r>
            <a:r>
              <a:rPr lang="fr-FR" b="1" dirty="0"/>
              <a:t>types d’utilisateurs</a:t>
            </a:r>
            <a:r>
              <a:rPr lang="fr-FR" dirty="0"/>
              <a:t> via leurs comportements et données personnelles.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extraction, exploration, </a:t>
            </a:r>
            <a:r>
              <a:rPr lang="fr-FR" dirty="0" err="1"/>
              <a:t>néttoyage</a:t>
            </a:r>
            <a:r>
              <a:rPr lang="fr-FR" dirty="0"/>
              <a:t> et analyse de données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Calcule des différents </a:t>
            </a:r>
            <a:r>
              <a:rPr lang="fr-FR" dirty="0" err="1"/>
              <a:t>kPIs</a:t>
            </a:r>
            <a:r>
              <a:rPr lang="fr-FR" dirty="0"/>
              <a:t> pour comprendre le comportement des clients </a:t>
            </a:r>
          </a:p>
          <a:p>
            <a:pPr marL="0" lvl="0" indent="0">
              <a:lnSpc>
                <a:spcPct val="115000"/>
              </a:lnSpc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None/>
              <a:tabLst>
                <a:tab pos="457200" algn="l"/>
              </a:tabLst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B7C487-5FDD-8098-CE58-00444E6AD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690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DE408-B77F-F1D2-39CD-58754B6AA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E7AF75-D6A8-1C32-FEFC-0AFE28D8E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1958B0-A8E6-B6E7-7CB4-62C9DAC57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4CA61E-E5A3-AB13-C738-A3CC3AF8E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1568C2C-B0C9-1C8F-9C8E-48A17B639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A7EE14-4072-CE15-1844-DC5E19938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4C54D7-E65C-7A82-DF1E-2AAAAEE9769C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CCC668-2210-485D-74B7-BE761906C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BF56D5E-3015-2C7B-0DB1-2DB75685BC7B}"/>
              </a:ext>
            </a:extLst>
          </p:cNvPr>
          <p:cNvSpPr txBox="1"/>
          <p:nvPr/>
        </p:nvSpPr>
        <p:spPr>
          <a:xfrm>
            <a:off x="4482544" y="457686"/>
            <a:ext cx="7210757" cy="1067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Fusion des tables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18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Après extraction et compréhension des différentes tables, celles-ci ont été fusionnées à l'aide des clés de jointure appropriées.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E7B329-EBD6-F014-2A13-E44C9DA6C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631" y="1774296"/>
            <a:ext cx="7163670" cy="4310881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9C218E-2E4D-22F1-8A4F-97F573A2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258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C46C14-445C-ABEC-B5EC-05581C351F25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286E50-FA5C-BF29-3305-47D4F0622D0C}"/>
              </a:ext>
            </a:extLst>
          </p:cNvPr>
          <p:cNvSpPr txBox="1">
            <a:spLocks/>
          </p:cNvSpPr>
          <p:nvPr/>
        </p:nvSpPr>
        <p:spPr>
          <a:xfrm>
            <a:off x="4667657" y="986006"/>
            <a:ext cx="6492835" cy="3869952"/>
          </a:xfrm>
          <a:prstGeom prst="rect">
            <a:avLst/>
          </a:prstGeom>
        </p:spPr>
        <p:txBody>
          <a:bodyPr vert="horz" lIns="0" tIns="45720" rIns="0" bIns="45720" rtlCol="0" anchor="ctr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sz="1800" b="1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Nettoyage et analyse des données : 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Vérification des doublons dans la colonne des 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Ids</a:t>
            </a:r>
            <a:endParaRPr lang="fr-FR" sz="1800" kern="100" dirty="0">
              <a:effectLst/>
              <a:latin typeface="Aptos Display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Investigation des anomalies détectées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Suppression des doublons identifiés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Validation de l’absence de doublons après nettoyage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fr-FR" b="1" i="0" dirty="0">
              <a:solidFill>
                <a:srgbClr val="000000"/>
              </a:solidFill>
              <a:effectLst/>
              <a:latin typeface="Helvetica Neue"/>
            </a:endParaRPr>
          </a:p>
          <a:p>
            <a:pPr marL="742950" lvl="1" indent="-285750" algn="just">
              <a:spcBef>
                <a:spcPts val="0"/>
              </a:spcBef>
              <a:spcAft>
                <a:spcPts val="600"/>
              </a:spcAft>
              <a:buSzPts val="1000"/>
              <a:buFont typeface="Calibri" panose="020F0502020204030204" pitchFamily="34" charset="0"/>
              <a:buChar char="o"/>
              <a:tabLst>
                <a:tab pos="914400" algn="l"/>
              </a:tabLst>
            </a:pPr>
            <a:endParaRPr lang="fr-FR" noProof="0" dirty="0"/>
          </a:p>
          <a:p>
            <a:pPr marL="457200" lvl="1" indent="0" algn="just">
              <a:spcBef>
                <a:spcPts val="0"/>
              </a:spcBef>
              <a:spcAft>
                <a:spcPts val="600"/>
              </a:spcAft>
              <a:buSzPts val="1000"/>
              <a:buFont typeface="Calibri" panose="020F0502020204030204" pitchFamily="34" charset="0"/>
              <a:buNone/>
              <a:tabLst>
                <a:tab pos="914400" algn="l"/>
              </a:tabLst>
            </a:pPr>
            <a:endParaRPr lang="fr-FR" noProof="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53C703E-892D-D5CC-FE61-29E2CE11D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125" y="1592955"/>
            <a:ext cx="4544059" cy="1057423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895B8262-0E7E-F011-9293-E5340F98C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125" y="4509135"/>
            <a:ext cx="4458322" cy="1086002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3BF6D5-CC44-31BF-F8D1-468E44569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6268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4A3B0-5C03-0D6B-DDE2-7ACA0F5F7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25118F-5F92-7E40-ABB3-3EDFCFC4E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F8D2AA-4E9A-1D75-A02E-3B6E481EA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23C85D-EAD0-D2E9-BD30-D6414D1A5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DAE2F2-74F4-A1A5-D12C-55F41035E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351C9F-66D0-44AA-FFA6-D38209D0C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6C69777-DC75-4A3F-9686-D4ADA7791BC6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D919E1-C819-200E-D1EC-E1250850E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2FC704-8C68-21F1-FA75-0B58A6BE5972}"/>
              </a:ext>
            </a:extLst>
          </p:cNvPr>
          <p:cNvSpPr txBox="1"/>
          <p:nvPr/>
        </p:nvSpPr>
        <p:spPr>
          <a:xfrm>
            <a:off x="4578850" y="1202796"/>
            <a:ext cx="7132693" cy="1198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Conversion des formats de date : </a:t>
            </a:r>
            <a:endParaRPr lang="fr-FR" dirty="0"/>
          </a:p>
          <a:p>
            <a:r>
              <a:rPr lang="fr-FR" dirty="0"/>
              <a:t>Conversion de toutes les colonnes contenant des dates au type </a:t>
            </a:r>
            <a:r>
              <a:rPr lang="fr-FR" b="1" dirty="0" err="1"/>
              <a:t>date_time</a:t>
            </a:r>
            <a:r>
              <a:rPr lang="fr-FR" dirty="0"/>
              <a:t> pour assurer une analyse temporelle cohérente.</a:t>
            </a:r>
          </a:p>
          <a:p>
            <a:pPr marL="384048" lvl="1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fr-F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9C78E2E-FC01-9852-3F15-406E65C2D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850" y="2600209"/>
            <a:ext cx="5372850" cy="1657581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043D2F-573B-9DE7-4B35-D123FCD9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0201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0E2A5-9328-03F2-629B-2759F3E6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574C25-B15A-5EEC-8440-B2C9CC71A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31BDB9-FE2E-1CBE-1D6B-709053476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D1893D-E056-C220-8DAF-FB894DA8E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DA3EF6C-59FA-5455-0DB6-80C67D478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8FDD71-824B-C3C4-5969-74AFDD58B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4D390E-6C20-751A-0488-01DCA1C88143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758526-70F6-6A8F-6F20-DB71E8C94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9A0D35-1CF3-DEDF-82C2-74FA67E7573C}"/>
              </a:ext>
            </a:extLst>
          </p:cNvPr>
          <p:cNvSpPr txBox="1">
            <a:spLocks/>
          </p:cNvSpPr>
          <p:nvPr/>
        </p:nvSpPr>
        <p:spPr>
          <a:xfrm>
            <a:off x="4742016" y="605896"/>
            <a:ext cx="6786838" cy="5646208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>
              <a:lnSpc>
                <a:spcPct val="115000"/>
              </a:lnSpc>
              <a:buNone/>
            </a:pPr>
            <a:r>
              <a:rPr lang="fr-FR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Nettoyage des données</a:t>
            </a:r>
            <a:endParaRPr lang="fr-F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Suppression des colonnes non pertinentes :</a:t>
            </a:r>
            <a:endParaRPr lang="fr-F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review_comment_title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review_comment_message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product_category_name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customer_id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order_item_id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product_name_lenght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product_description_lenght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product_photos_qty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product_weight_g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product_length_cm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product_height_cm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product_width_cm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seller_zip_code_prefix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seller_city</a:t>
            </a:r>
            <a:r>
              <a:rPr lang="fr-FR" sz="20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20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seller_state</a:t>
            </a:r>
            <a:endParaRPr lang="fr-FR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Suppression des lignes avec valeurs manquantes</a:t>
            </a:r>
            <a:endParaRPr lang="fr-F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fr-FR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Filtrage pour ne conserver que les commandes avec </a:t>
            </a:r>
            <a:r>
              <a:rPr lang="fr-FR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order_status</a:t>
            </a:r>
            <a:r>
              <a:rPr lang="fr-FR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= "</a:t>
            </a:r>
            <a:r>
              <a:rPr lang="fr-FR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delivered</a:t>
            </a:r>
            <a:r>
              <a:rPr lang="fr-FR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</a:t>
            </a:r>
            <a:endParaRPr lang="fr-F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lvl="1" indent="0" algn="just">
              <a:spcBef>
                <a:spcPts val="0"/>
              </a:spcBef>
              <a:spcAft>
                <a:spcPts val="600"/>
              </a:spcAft>
              <a:buSzPts val="1000"/>
              <a:buFont typeface="Calibri" panose="020F0502020204030204" pitchFamily="34" charset="0"/>
              <a:buNone/>
              <a:tabLst>
                <a:tab pos="914400" algn="l"/>
              </a:tabLst>
            </a:pPr>
            <a:endParaRPr lang="fr-FR" sz="2000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F9978B-14B0-52A1-F47D-AA6B22B5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372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AB5C26-1789-D928-DFC7-38C023F17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65C597-2F56-0268-A905-5EB202E01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97DC46-F188-6D06-174E-824E63146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BE5264-638D-2924-2A36-9C39835BA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33409EB-D323-D938-71BA-037CE8A62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8ED284-C46A-37FC-F28B-FDD32E2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584C47C-7DCE-04CB-37A0-C13F85EDF943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4CF2D8-1CEA-F583-8D4C-36ECE3637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6BBFB5-DFA5-69DD-5AC3-B5D0CE7DA196}"/>
              </a:ext>
            </a:extLst>
          </p:cNvPr>
          <p:cNvSpPr txBox="1">
            <a:spLocks/>
          </p:cNvSpPr>
          <p:nvPr/>
        </p:nvSpPr>
        <p:spPr>
          <a:xfrm>
            <a:off x="4742016" y="605897"/>
            <a:ext cx="6786838" cy="2687760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Analyse statistique et KPIs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Période couverte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Identification de la première et dernière date de commande.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Comportement des clients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Analyse des tendances d'achat par jour de la semaine.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SzPts val="1000"/>
              <a:buFont typeface="Calibri" panose="020F0502020204030204" pitchFamily="34" charset="0"/>
              <a:buNone/>
              <a:tabLst>
                <a:tab pos="914400" algn="l"/>
              </a:tabLst>
            </a:pPr>
            <a:r>
              <a:rPr lang="en-US" dirty="0"/>
              <a:t> </a:t>
            </a: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SzPts val="1000"/>
              <a:buFont typeface="Calibri" panose="020F0502020204030204" pitchFamily="34" charset="0"/>
              <a:buNone/>
              <a:tabLst>
                <a:tab pos="914400" algn="l"/>
              </a:tabLst>
            </a:pPr>
            <a:endParaRPr lang="fr-FR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072771D-061A-F793-2C01-0897718CD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592" y="1428382"/>
            <a:ext cx="5752722" cy="52139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7243EAC-5ED4-A181-577D-20A574737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026" y="2259240"/>
            <a:ext cx="5075797" cy="427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676490-A20D-FA44-939D-D95229074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5665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972D8-47C2-B3EE-E1F0-00AF42BC6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1C9521D-9025-5CE9-1F07-8554E3B97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69BC50-0B35-4115-E2D7-EF9754D4B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BD83E7-5ED5-9518-5A10-30BC150F9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F0FA0DB-741D-5A86-F297-EB926B40E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00CC7C-DC3A-367A-B63E-7E07EE71A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9D111BF-B24A-75B6-3609-AFFF373FF7A0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7AC962-9189-E977-6050-1DE9D42B7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AE15655-540F-5430-10C5-FC6EC8156216}"/>
              </a:ext>
            </a:extLst>
          </p:cNvPr>
          <p:cNvSpPr txBox="1"/>
          <p:nvPr/>
        </p:nvSpPr>
        <p:spPr>
          <a:xfrm>
            <a:off x="4566936" y="605896"/>
            <a:ext cx="7132693" cy="713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Analyse des délais de livraison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Étude du temps écoulé entre la commande et la livraison effective.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1179FAE-693F-FFD6-603D-3E3AE78F5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1590380"/>
            <a:ext cx="55245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A236BF8-A56C-404D-2051-466029E3B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2426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3ACFA-D52C-47EB-7F8B-47250CA48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3185C7-0970-2E40-03EC-6A80FEDB2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7A17A7-F202-1642-69F1-4F48C63B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067B503-F706-2B2B-A984-640D663E9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CFC574E-6231-6505-EC8B-2358BC3D3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32B761-77BD-4E51-71FC-10696542E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3739719-D3DD-A56A-D8CA-D6AC9C6B3B86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68FE2E-7DE3-E0E9-B823-0081033F6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A22791D-AC5A-8FF5-4B52-42C59AEF4232}"/>
              </a:ext>
            </a:extLst>
          </p:cNvPr>
          <p:cNvSpPr txBox="1"/>
          <p:nvPr/>
        </p:nvSpPr>
        <p:spPr>
          <a:xfrm>
            <a:off x="4566936" y="605896"/>
            <a:ext cx="7132693" cy="1109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Top 10 des villes avec le plus de commandes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Classement des villes les plus actives en volume de commandes.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SzPts val="1000"/>
              <a:buFont typeface="Calibri" panose="020F0502020204030204" pitchFamily="34" charset="0"/>
              <a:buNone/>
              <a:tabLst>
                <a:tab pos="914400" algn="l"/>
              </a:tabLst>
            </a:pPr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2AEAF4D-349C-49E0-FC75-355619DC8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960" y="1333500"/>
            <a:ext cx="5495925" cy="5295900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05C12B-B707-F09A-41DE-2A710FA4F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2813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A431E-5F45-60AC-E0EE-F9BD18822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A52617-74AF-9408-95F7-5BFCE0F8C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6A4983-6599-EB5B-7E0E-02E392A35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F188F3-E74B-18B8-2D2C-902598A42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65AC0FA-2A0D-B152-B0D8-B1BBB371C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8FE91E-FB35-3020-EFB9-95883831E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9EAE21E-405C-C9D8-CB47-24AA4A2C8764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4A3E90-19FF-E997-4B93-06B41FB32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7B06210-D063-6F0F-53BB-2626B0E7312E}"/>
              </a:ext>
            </a:extLst>
          </p:cNvPr>
          <p:cNvSpPr txBox="1"/>
          <p:nvPr/>
        </p:nvSpPr>
        <p:spPr>
          <a:xfrm>
            <a:off x="4566936" y="605896"/>
            <a:ext cx="7132693" cy="1109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Corrélation prix des produits et frais de livraison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18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Analyse de la relation entre le prix des produits et les coûts associés à leur livraison.</a:t>
            </a:r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A6E1718-6E94-1226-807E-5D719462F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050" y="1714918"/>
            <a:ext cx="5448300" cy="4276725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6789D7-C43B-AE2C-C2C1-AC340FFE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345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76F112-B336-E1CD-EBEE-6841A02E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D4A9BC-1052-BE0D-6FA4-CFDE62F02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9BF16C-059E-1C46-9C5F-D771F601C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4AE267-B817-6924-E9F0-43B7C9C03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25E1A65-FCD1-C87A-5ADF-96F04AF2F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5F7CC1-F944-B832-7276-2BE9C01EB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8E10DBB-1903-B77F-BD22-8BAE0A6E43A3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72E18B-AC38-F124-6050-943AE20F9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22C4B40-D14E-EA0C-D590-AB24AF6D56BB}"/>
              </a:ext>
            </a:extLst>
          </p:cNvPr>
          <p:cNvSpPr txBox="1"/>
          <p:nvPr/>
        </p:nvSpPr>
        <p:spPr>
          <a:xfrm>
            <a:off x="4566936" y="605896"/>
            <a:ext cx="7132693" cy="1032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Répartition des modes de paiement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Visualisation des méthodes de paiement les plus utilisées par les clients.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FD5618C-1AE7-6263-8701-961DF3AF2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575" y="1980905"/>
            <a:ext cx="3981450" cy="3895725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BD7358-F04A-D09F-426C-612F1FD2D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0032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BD77E-1DD6-D769-7442-17A650EA4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3CB45C-40F6-E37B-09D1-DE1D09A07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0FF5F9-B3A2-4CD2-5471-1918DE786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58AA99-C623-8B24-D1DA-CFEDD228D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7801B52-E107-2575-5552-F9978166C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9DFA16-820A-E3AD-1D77-E48CE2621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10318FB-2598-BEF8-251B-BA4CBCA792D3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BC2250-EC56-225E-7DFF-159115ED2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FEF411C-1A3E-45EF-77BD-0160E46176B0}"/>
              </a:ext>
            </a:extLst>
          </p:cNvPr>
          <p:cNvSpPr txBox="1"/>
          <p:nvPr/>
        </p:nvSpPr>
        <p:spPr>
          <a:xfrm>
            <a:off x="4566936" y="605896"/>
            <a:ext cx="7132693" cy="790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Distribution des notes de satisfaction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18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Analyse des évaluations clients (ex : notes de 1 à 5 étoiles)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70DCCF9-E112-6309-0050-2CCF3D801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467" y="1573239"/>
            <a:ext cx="6677025" cy="4419600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1772A1-C1D8-0C3F-E33B-EE4FEF5E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8610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47E8C2-8C40-8A12-1901-518D9C9B0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A4A7BA-16BB-D872-D4A5-40ABE03F4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33C7DE-7CD9-BDCA-8661-0DCCF976B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90EEB1-08B8-A8A8-8AEA-495EFB638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36DC1E3-E9A9-A86F-74A4-6FC9F090F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A0C1AD-149F-59D4-FCB8-588D9F49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EA6A93-9B7F-79AD-FB51-0E15F71E5F4E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CCB322-AB2C-2A34-88AB-B742176E8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1AD749D-84DE-3F42-B005-C60EB099AA5D}"/>
              </a:ext>
            </a:extLst>
          </p:cNvPr>
          <p:cNvSpPr txBox="1"/>
          <p:nvPr/>
        </p:nvSpPr>
        <p:spPr>
          <a:xfrm>
            <a:off x="4566936" y="605896"/>
            <a:ext cx="7132693" cy="790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Top 10 des catégories de produits les plus achetés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18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Classement des catégories préférées des clients.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A84C2CA-7A72-4581-BF85-10DE781B8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275" y="1590675"/>
            <a:ext cx="5429250" cy="5038725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4E48E7-0CF3-75C0-A928-316476D3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3873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C2D7C-056F-C39A-0A07-1849B75AB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4203B8-4F67-B3CA-918A-93AD90AEC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57CDC1-0EB6-A71E-A28D-6C9BFB152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FBF16D-BD3D-B201-917E-9EB46C416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4EA0AB1-0EF6-A47A-0818-2B73A8977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0E56C-FA1E-C599-FAF0-509A98D31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36FA79C-1839-9648-B52C-12F478AF606C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037807-444F-092B-6591-67A805068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ED66993-F3E3-208F-F12E-AB6FE85A6224}"/>
              </a:ext>
            </a:extLst>
          </p:cNvPr>
          <p:cNvSpPr txBox="1"/>
          <p:nvPr/>
        </p:nvSpPr>
        <p:spPr>
          <a:xfrm>
            <a:off x="4566936" y="605896"/>
            <a:ext cx="7132693" cy="1032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Volume de commandes par mois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Évolution mensuelle du nombre de commandes sur la période analysée.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C427A2D-5413-C3A9-9208-D775134DF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89" y="1879359"/>
            <a:ext cx="7153689" cy="4521198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13A5C1-5A0E-EC3B-3616-09649C0B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2269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56A1A-7EB7-5508-9E30-88732A9D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7EC94E-8074-AE74-AC81-813E2E245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DA19DB-6431-9547-3792-5796D60C1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1127EF-CAC6-81DB-BA83-B72787D81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847ABEF-6283-6B9A-DFB7-E6A491FFA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B3D641-2129-7DE0-DD76-A12E0C9D8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E3D778-CCEB-D508-6E3C-32C25F2A4B1D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241D4B-29EE-176E-F52F-40DB91C65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63BDAF2-1981-64A1-89CF-2EF69150F2B8}"/>
              </a:ext>
            </a:extLst>
          </p:cNvPr>
          <p:cNvSpPr txBox="1"/>
          <p:nvPr/>
        </p:nvSpPr>
        <p:spPr>
          <a:xfrm>
            <a:off x="4566936" y="605896"/>
            <a:ext cx="7619379" cy="2383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Indicateurs clés (KPIs)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Chiffre d’affaires (CA)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Montant total généré :  14840418,57 Real 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Valeur moyenne du panier (VMP)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</a:t>
            </a:r>
          </a:p>
          <a:p>
            <a:pPr lvl="0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Dépense moyenne par commande: 157,14 Real</a:t>
            </a:r>
            <a:b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Nombre de commandes par client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Fidélisation et fréquence d'achat: 1,03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1800" b="1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Délai de livraison moyen</a:t>
            </a:r>
            <a:r>
              <a:rPr lang="fr-FR" sz="18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Performance logistique</a:t>
            </a:r>
            <a:r>
              <a:rPr lang="fr-FR" dirty="0"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 12,05 jours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1861ECB-F9EE-4740-62EC-4D1235574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8867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924B9-472F-EDF3-45F6-61C0D6AC5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BE39CD-216E-71E1-6469-CC673E98B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B4611E-1C37-11BA-995B-E40A2B26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FDA8A4-8FDF-D91C-FC6B-19F457524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1F5A0E-3D5F-1CCD-D410-24E340682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DB03C9-D60E-816F-5674-40D8DD319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C62E49-4F97-5628-9A6B-412DD28FEC92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029CF2-4E4E-7AA1-247C-7C5AC77D8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4F3EE1E-29FE-0FE4-1807-B913FD977B63}"/>
              </a:ext>
            </a:extLst>
          </p:cNvPr>
          <p:cNvSpPr txBox="1"/>
          <p:nvPr/>
        </p:nvSpPr>
        <p:spPr>
          <a:xfrm>
            <a:off x="4566936" y="605896"/>
            <a:ext cx="7132693" cy="2943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KPI temporels : </a:t>
            </a: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Délai moyen d'approbation : 10.28 heures</a:t>
            </a: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Délai moyen de préparation : 66.87 heures</a:t>
            </a: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Délai moyen de livraison par le transporteur : 223.16 heures</a:t>
            </a: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Délai total moyen de traitement des commandes : 12.05 jours</a:t>
            </a: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Pourcentage de commandes livrées à temps : 92.02%</a:t>
            </a: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Délai moyen de réponse aux avis : 75.62 heures</a:t>
            </a: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 Nombre de commandes livrées après la date limite : 7539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94230DE-19EE-1B32-BC35-BE022FF8D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857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78A43-B0CF-FB63-4E96-CA18ABFD0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DAAD4CF-A644-929B-E0AB-99091128E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A6B509-7A2C-3738-5032-377A9D3A2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A24E9A-7510-F56D-1219-71DD3491C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D3207A7-4D58-13F3-3C28-C2269EC47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362EDC-8772-0338-7CFB-F17F44A17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23B0B70-81EE-A134-46AA-0BCEF2B9411B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FD75AA-FB6E-04B6-573C-5A490BED9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00C9BE9-5686-A241-7BA7-626988267312}"/>
              </a:ext>
            </a:extLst>
          </p:cNvPr>
          <p:cNvSpPr txBox="1"/>
          <p:nvPr/>
        </p:nvSpPr>
        <p:spPr>
          <a:xfrm>
            <a:off x="4566936" y="605896"/>
            <a:ext cx="7132693" cy="39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Évolution mensuelle du chiffre d’affaires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Tendances et saisonnalités.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E926FA7-E014-CC4A-13E3-2EEF0E1A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24</a:t>
            </a:fld>
            <a:endParaRPr lang="fr-F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DD7B25F-5BB3-F97B-F9ED-B041A5D5B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376" y="1440131"/>
            <a:ext cx="7843931" cy="397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6693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8CB82-7442-6879-5355-C8586389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B1EA52-2D5B-6109-CD53-8DFB7CAD8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76CD26-422C-D93D-632A-3ABE068E6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A32A67-71A8-C744-63EC-5A056B8B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574A85B-8FBC-5243-E477-8DE36A33B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526C86-56C2-A456-8FF8-EF21D186F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8304C9-A921-EDE7-FDD1-E1C4C1C20495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8F58BD-96C7-B6F0-4A32-A429B6278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270CBCD-B0BB-35CE-6832-BA287F49F457}"/>
              </a:ext>
            </a:extLst>
          </p:cNvPr>
          <p:cNvSpPr txBox="1"/>
          <p:nvPr/>
        </p:nvSpPr>
        <p:spPr>
          <a:xfrm>
            <a:off x="4566936" y="605896"/>
            <a:ext cx="7132693" cy="1669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Suppression des variables inutiles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Colonnes supprimées :</a:t>
            </a:r>
            <a:b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order_status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shipping_limit_date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order_approved_at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delai_reponse_avis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order_id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product_id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seller_id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customer_city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review_id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product_category_name_english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customer_zip_code_prefix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F8601D0-EB73-65F8-191F-33C0746D1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2736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82BB3-A468-4A1F-4014-CD133C494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7D3A3F-E33E-6D36-8E14-2F721EF9D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54EEE2-0C2C-407E-23EF-899FAF386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2C87527-924D-5372-3BE3-0BD510456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F0CD5F6-29E7-8799-2F85-7E70DCA6A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1626F2-5161-47A2-AA0B-CB97B47EB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1ECD23A-C347-BB8F-7EF0-76C6920AC09F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Analyses </a:t>
            </a:r>
            <a:r>
              <a:rPr lang="en-US" sz="3600" dirty="0" err="1">
                <a:solidFill>
                  <a:srgbClr val="FFFFFF"/>
                </a:solidFill>
              </a:rPr>
              <a:t>Exploratoires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EEBC4B-5D10-E292-9510-DC7EBE794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2D9FAB0-1287-274D-BF20-C69E817251CD}"/>
              </a:ext>
            </a:extLst>
          </p:cNvPr>
          <p:cNvSpPr txBox="1"/>
          <p:nvPr/>
        </p:nvSpPr>
        <p:spPr>
          <a:xfrm>
            <a:off x="4566936" y="605896"/>
            <a:ext cx="7132693" cy="13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Transformation des colonnes catégorielles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Encodage des variables qualitatives :</a:t>
            </a:r>
            <a:b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customer_state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payment_type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purchase_day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livraison_a_temps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 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livraison_apres_limite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5ECC149-9670-8CDC-5E79-21A19689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3600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3C4A1-F420-F916-8977-A51B74C7F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EF10BA-99CD-C3CE-CD34-0535D7D65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3C894F-5152-AC0C-C893-48E0436C7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3D5D16-9FA9-1FCA-8820-3EF1B51D5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E981863-F824-C00E-E732-6645000FF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289932-4B69-86CF-89F8-A294E1FBE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B028538-A086-D6B5-E4F2-BD8AC4ABD970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Segmentation RFM 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D9D62A-2C49-7762-8639-99F372D4B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176B638-5958-546E-45FC-294D0B4B57C9}"/>
              </a:ext>
            </a:extLst>
          </p:cNvPr>
          <p:cNvSpPr txBox="1"/>
          <p:nvPr/>
        </p:nvSpPr>
        <p:spPr>
          <a:xfrm>
            <a:off x="4566936" y="605896"/>
            <a:ext cx="7132693" cy="673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lnSpc>
                <a:spcPct val="115000"/>
              </a:lnSpc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Fichier final pour la segmentation RFM : 94439 lignes et 53 colonnes </a:t>
            </a:r>
          </a:p>
          <a:p>
            <a:pPr marL="457200">
              <a:lnSpc>
                <a:spcPct val="115000"/>
              </a:lnSpc>
              <a:buNone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buNone/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Préparation du 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dataset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pour l'analyse RFM (</a:t>
            </a:r>
            <a:r>
              <a:rPr lang="fr-FR" sz="1800" i="1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Recency</a:t>
            </a:r>
            <a:r>
              <a:rPr lang="fr-FR" sz="1800" i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Frequency, </a:t>
            </a:r>
            <a:r>
              <a:rPr lang="fr-FR" sz="1800" i="1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Monetary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 :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Recency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Délai depuis la dernière commande.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Frequency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Nombre d'achats par client.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b="1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Monetary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: Montant total dépensé par client.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FR" kern="100" dirty="0">
              <a:latin typeface="Aptos Display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Recherche de la dernière date dans mon 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DataFrame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: 2018-08-29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Calculer R (Récence), F (Fréquence) et M (Monétaire)</a:t>
            </a:r>
            <a:endParaRPr lang="fr-FR" kern="100" dirty="0">
              <a:latin typeface="Aptos Display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Attribuer des scores de 1 à 5 pour R (Récence) en utilisant `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qcut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`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Attribuer des scores de 1 à 5 pour M (Monétaire) en utilisant `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qcut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`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Attribuer des scores pour F (Fréquence) en utilisant un regroupement manuel : 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frequency</a:t>
            </a: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== 1 c’est 1 et si c’est  &gt; 1 == 5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800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CALCULER </a:t>
            </a:r>
            <a:r>
              <a:rPr lang="fr-FR" sz="1800" kern="100" dirty="0" err="1">
                <a:effectLst/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rfm_score</a:t>
            </a:r>
            <a:r>
              <a:rPr lang="fr-FR" kern="100" dirty="0"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==  </a:t>
            </a:r>
            <a:r>
              <a:rPr lang="fr-FR" kern="100" dirty="0" err="1"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sum</a:t>
            </a:r>
            <a:r>
              <a:rPr lang="fr-FR" kern="100" dirty="0">
                <a:latin typeface="Aptos Display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 R+F+M) </a:t>
            </a:r>
            <a:endParaRPr lang="fr-FR" sz="1800" kern="100" dirty="0">
              <a:effectLst/>
              <a:latin typeface="Aptos Display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FR" kern="100" dirty="0">
              <a:latin typeface="Aptos Display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A0738EE-5EA7-4B98-BB35-8AEFA293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9722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163B5-0F45-5A9A-15DC-2567B85A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A8B69A-EFCD-A5AE-6E43-C1D5BE501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032391-F8B6-65DB-7D5C-AFF33A98A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F78366-9DE6-31B9-AC57-055BD8A50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6F66DD0-A2C0-5221-E824-1540022F1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793CC6-1B7F-6CDD-7941-1E55BFD28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1CED4F2-0916-1388-328E-F2568E00E923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Segmentation RFM 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63C2A9-55F8-06DF-B1E5-5EB1CB681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55D4855-710F-A4BB-876D-DF452E0A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8B171-25EA-4950-AA82-4F9485406C51}" type="slidenum">
              <a:rPr lang="fr-FR" smtClean="0"/>
              <a:t>28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979F639-174D-8DA1-0F1B-F81D3E51F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312" y="33090"/>
            <a:ext cx="7927334" cy="6367224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5EC060E-1FF7-F1FD-3AE0-0FBA7CE79FB4}"/>
              </a:ext>
            </a:extLst>
          </p:cNvPr>
          <p:cNvSpPr/>
          <p:nvPr/>
        </p:nvSpPr>
        <p:spPr>
          <a:xfrm>
            <a:off x="4833257" y="3429000"/>
            <a:ext cx="2638697" cy="2201083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20D2359-8E38-7A86-3052-43B50AA034D9}"/>
              </a:ext>
            </a:extLst>
          </p:cNvPr>
          <p:cNvSpPr/>
          <p:nvPr/>
        </p:nvSpPr>
        <p:spPr>
          <a:xfrm>
            <a:off x="7617269" y="457686"/>
            <a:ext cx="4126240" cy="2324703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1461DB6-869D-338A-7339-AAC53BC70E7B}"/>
              </a:ext>
            </a:extLst>
          </p:cNvPr>
          <p:cNvSpPr/>
          <p:nvPr/>
        </p:nvSpPr>
        <p:spPr>
          <a:xfrm>
            <a:off x="7889966" y="2939143"/>
            <a:ext cx="3853543" cy="269094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76A2CA1-13B6-01D7-01F6-C5D9C67E41FB}"/>
              </a:ext>
            </a:extLst>
          </p:cNvPr>
          <p:cNvSpPr/>
          <p:nvPr/>
        </p:nvSpPr>
        <p:spPr>
          <a:xfrm>
            <a:off x="4833257" y="457686"/>
            <a:ext cx="2442754" cy="2839150"/>
          </a:xfrm>
          <a:prstGeom prst="round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3657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F5F9E-2544-F9A0-CFE5-5D62F26E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5611D0-A765-B2D6-1FE8-845F5534B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23873A-A0D4-5056-D471-139247FE1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B9188C-2BEA-5411-4E37-8A556EE47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A0AF524-6D01-3CA4-DC4F-9E441D1D3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7BFDE5-43C3-776B-CFAE-7810F90EB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65440E7-FBB7-6310-D049-CB26453BF401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Segmentation RFM 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004738-B842-E714-12F9-6A561D49D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767B3F1-A3E8-0783-5B5B-80DACCA12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" y="-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603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1C9942-AE82-7F10-BB2D-84E901B2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1A0DAD9-1335-4FA4-7674-82E37FB4E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C4E0B-4DDA-492E-27C6-17E3A66A0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65C455-7814-9C32-DD29-D2A3ADBD9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F78E82B-35B7-4DAF-604C-E3C91E68B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4D6923-B564-51B8-5693-90516C392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4525FB-94CD-867E-3937-4F6E2BC8EB38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</a:t>
            </a:r>
          </a:p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K-Means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F4BD51-BED7-8709-8297-D73711D96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D18C0A6-04F0-D826-9D38-2DABE18E29AE}"/>
              </a:ext>
            </a:extLst>
          </p:cNvPr>
          <p:cNvSpPr txBox="1"/>
          <p:nvPr/>
        </p:nvSpPr>
        <p:spPr>
          <a:xfrm>
            <a:off x="4632624" y="457686"/>
            <a:ext cx="706700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fr-FR" b="1" dirty="0">
                <a:solidFill>
                  <a:srgbClr val="000000"/>
                </a:solidFill>
                <a:latin typeface="Helvetica Neue"/>
              </a:rPr>
              <a:t>1) Prétraitement des données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Imputation des valeurs manquantes (médiane)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Traitement des </a:t>
            </a:r>
            <a:r>
              <a:rPr lang="fr-FR" dirty="0" err="1">
                <a:solidFill>
                  <a:srgbClr val="000000"/>
                </a:solidFill>
                <a:latin typeface="Helvetica Neue"/>
              </a:rPr>
              <a:t>outliers</a:t>
            </a:r>
            <a:r>
              <a:rPr lang="fr-FR" dirty="0">
                <a:solidFill>
                  <a:srgbClr val="000000"/>
                </a:solidFill>
                <a:latin typeface="Helvetica Neue"/>
              </a:rPr>
              <a:t> (écart interquartile)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Standardisation des variables</a:t>
            </a:r>
          </a:p>
          <a:p>
            <a:pPr lvl="1"/>
            <a:r>
              <a:rPr lang="fr-FR" b="1" dirty="0">
                <a:solidFill>
                  <a:srgbClr val="000000"/>
                </a:solidFill>
                <a:latin typeface="Helvetica Neue"/>
              </a:rPr>
              <a:t>2) Sélection de variables (approche hybride)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Filtrage par faible variance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Suppression des corrélations fortes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Importance des variables via ACP</a:t>
            </a:r>
          </a:p>
          <a:p>
            <a:pPr lvl="1"/>
            <a:r>
              <a:rPr lang="fr-FR" b="1" dirty="0">
                <a:solidFill>
                  <a:srgbClr val="000000"/>
                </a:solidFill>
                <a:latin typeface="Helvetica Neue"/>
              </a:rPr>
              <a:t>3) ACP (Analyse en Composantes Principales)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Réduction des dimensions tout en conservant 90–95% de la variance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Visualisation des variables (cercle de corrélation)</a:t>
            </a:r>
          </a:p>
          <a:p>
            <a:pPr lvl="1"/>
            <a:r>
              <a:rPr lang="fr-FR" b="1" dirty="0">
                <a:solidFill>
                  <a:srgbClr val="000000"/>
                </a:solidFill>
                <a:latin typeface="Helvetica Neue"/>
              </a:rPr>
              <a:t>4) Clustering (K-</a:t>
            </a:r>
            <a:r>
              <a:rPr lang="fr-FR" b="1" dirty="0" err="1">
                <a:solidFill>
                  <a:srgbClr val="000000"/>
                </a:solidFill>
                <a:latin typeface="Helvetica Neue"/>
              </a:rPr>
              <a:t>means</a:t>
            </a:r>
            <a:r>
              <a:rPr lang="fr-FR" b="1" dirty="0">
                <a:solidFill>
                  <a:srgbClr val="000000"/>
                </a:solidFill>
                <a:latin typeface="Helvetica Neue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Détermination automatique du nombre de clusters (méthode du coude + silhouette)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Affectation des clusters aux données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Visualisation 2D des clusters</a:t>
            </a:r>
          </a:p>
          <a:p>
            <a:pPr lvl="1"/>
            <a:r>
              <a:rPr lang="fr-FR" b="1" dirty="0">
                <a:solidFill>
                  <a:srgbClr val="000000"/>
                </a:solidFill>
                <a:latin typeface="Helvetica Neue"/>
              </a:rPr>
              <a:t>5)  Export des résultats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Statistiques moyennes par cluster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Helvetica Neue"/>
              </a:rPr>
              <a:t>Sauvegarde des données annotées</a:t>
            </a:r>
          </a:p>
        </p:txBody>
      </p:sp>
    </p:spTree>
    <p:extLst>
      <p:ext uri="{BB962C8B-B14F-4D97-AF65-F5344CB8AC3E}">
        <p14:creationId xmlns:p14="http://schemas.microsoft.com/office/powerpoint/2010/main" val="34656591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93AAD-456A-458D-21C5-F038F6D3E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4BADB5-3C5A-C8CA-2A70-11ACDE45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09F99F-61E1-8E22-A88D-66E35B518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039992C-D34D-FF0A-E4F4-6AFE383C5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39927D-4222-6DAE-3077-66F970D62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0119B2-4CA5-D738-A3D8-9AABC43EA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CD00EE-D605-A242-9022-07E45325EC35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DC837B-3A7A-F061-D30D-DA72D2351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7D408FE-6476-07B3-E2CF-95B31863F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4406" y="0"/>
            <a:ext cx="1205638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3922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D69BED-C440-8C97-CE3D-9336A0444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FE6EE8-C50F-D0D3-16D1-2AC237488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B13DF6-BFDD-F5E8-C66D-DC25A165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3C6184-8E47-DB11-C9F4-88C72C0B2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9AB6C11-5047-EEF6-262D-B43DB1BCE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8006F4-4F3D-DDB4-FF91-66802665B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77C453C-984B-B314-E5BF-576CF4C7D87F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510DDD-A53F-AB69-359E-31D327966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52B1981-19EF-2C4A-4BAF-38CECDD86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" y="0"/>
            <a:ext cx="5944541" cy="6837028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7442A8E-DA65-6885-4C82-9A8C69D93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033" y="99052"/>
            <a:ext cx="5944541" cy="650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58618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2199A-F12D-725A-3FB4-9D8357CCE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B90CAE-118B-3C45-3A79-A4E6E09E6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54D685-C599-B34D-C532-9B3FE0497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76E525-7C5E-B208-5C6C-D3348078F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61CA00B-DDB1-EC67-9E4D-922C088D2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470C8B-C8C7-27A9-074D-3C8090F1C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37AD7A8-A265-92F9-6C18-BEFC48452DEE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9F90C1-0B23-CB90-5B83-44AA86687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2830ECE-D633-EBE8-58B5-4E2534F1B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" y="0"/>
            <a:ext cx="5944541" cy="683702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75A885D-609D-436D-AE9E-AE2CF4EC5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215" y="2043727"/>
            <a:ext cx="4020111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8240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1B5628-5E80-F2F1-7F81-7CAE1E017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BD3D418-5446-C316-6D3C-8D69CC5D1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0ED85C-0623-FA19-D277-3E7D7BCF2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56E4DA-E712-570F-9481-84D00F22E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D2E7564-9DD6-7111-520C-B34F0F760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D0C0B-F5A9-0859-FAE9-872026AA4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A23B90A-E1C9-526E-C083-BDF949AA71B0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</a:t>
            </a:r>
          </a:p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DB-Scan 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A46266-0E90-DAF1-ECAE-8BF3B95CC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6ED7A0E-8F08-4FAC-39C3-2A0432695B73}"/>
              </a:ext>
            </a:extLst>
          </p:cNvPr>
          <p:cNvSpPr txBox="1"/>
          <p:nvPr/>
        </p:nvSpPr>
        <p:spPr>
          <a:xfrm>
            <a:off x="4426857" y="219147"/>
            <a:ext cx="727277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Étapes clés du pipeline :</a:t>
            </a:r>
          </a:p>
          <a:p>
            <a:r>
              <a:rPr lang="fr-FR" sz="2400" b="1" dirty="0"/>
              <a:t>Prétraitement des données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Sélection des variables numériques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Imputation (médiane) + Standardisation robuste</a:t>
            </a:r>
          </a:p>
          <a:p>
            <a:r>
              <a:rPr lang="fr-FR" sz="2400" b="1" dirty="0"/>
              <a:t>Réduction de dimension (PCA)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Compression des données tout en conservant 90 % de la variance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Estimation automatique de l’hyperparamètre </a:t>
            </a:r>
            <a:r>
              <a:rPr lang="fr-FR" sz="2400" dirty="0" err="1"/>
              <a:t>eps</a:t>
            </a: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Moyenne des distances aux plus proches voisins</a:t>
            </a:r>
          </a:p>
          <a:p>
            <a:r>
              <a:rPr lang="fr-FR" sz="2400" b="1" dirty="0"/>
              <a:t>Clustering par DBSCAN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Comparaison de plusieurs valeurs de </a:t>
            </a:r>
            <a:r>
              <a:rPr lang="fr-FR" sz="2400" dirty="0" err="1"/>
              <a:t>eps</a:t>
            </a:r>
            <a:r>
              <a:rPr lang="fr-FR" sz="2400" dirty="0"/>
              <a:t> et </a:t>
            </a:r>
            <a:r>
              <a:rPr lang="fr-FR" sz="2400" dirty="0" err="1"/>
              <a:t>min_samples</a:t>
            </a:r>
            <a:r>
              <a:rPr lang="fr-FR" sz="2400" dirty="0"/>
              <a:t> ( </a:t>
            </a:r>
            <a:r>
              <a:rPr lang="fr-FR" sz="2400" dirty="0" err="1"/>
              <a:t>eps</a:t>
            </a:r>
            <a:r>
              <a:rPr lang="fr-FR" sz="2400" dirty="0"/>
              <a:t> = 2,5 et </a:t>
            </a:r>
            <a:r>
              <a:rPr lang="fr-FR" sz="2400" dirty="0" err="1"/>
              <a:t>min_samples</a:t>
            </a:r>
            <a:r>
              <a:rPr lang="fr-FR" sz="2400" dirty="0"/>
              <a:t>=10)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Visualisation 2D via t-SNE</a:t>
            </a:r>
          </a:p>
          <a:p>
            <a:r>
              <a:rPr lang="fr-FR" sz="2400" dirty="0"/>
              <a:t>Options avancées📌 HDBSCAN : meilleure gestion des densités variables📌 DBSCAN + métrique cosinus : alternative pour des données angulaires</a:t>
            </a:r>
          </a:p>
        </p:txBody>
      </p:sp>
    </p:spTree>
    <p:extLst>
      <p:ext uri="{BB962C8B-B14F-4D97-AF65-F5344CB8AC3E}">
        <p14:creationId xmlns:p14="http://schemas.microsoft.com/office/powerpoint/2010/main" val="2440578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D802B4-6E72-600C-9743-1551211B5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9E2289-D600-2582-538C-3F9A3AE76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7AF8C3-2E5A-AF4D-85C7-DABB575D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C93BFB-E510-6305-A01B-0C59952FF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0E1C6AE-2BEF-409B-6DDA-53F910A76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F07F14-9EA7-BF48-8482-9A0008E84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B6B0631-B07A-A019-2515-5AFB42DA0345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</a:t>
            </a:r>
          </a:p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DB-Scan 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450A91-D891-2907-F7F4-0C56EFE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F5DDA66-CE40-30C0-7667-D890476A2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86" y="-127"/>
            <a:ext cx="1219200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66201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AF5A4-2392-CDF1-167E-835F1FE51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FBC761A-BD7B-15EE-4A46-6E3B0DB49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7DD9E0-D58B-0CF6-27E3-FB1BA5377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EEE1FC-CEB0-AED4-4676-8AE6FFDEC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9F08F47-CB44-C78D-A376-BFA6DF49A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D5DAA7-511F-9D6A-50F2-4892F8A0B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6BCCB8-4A9A-CE30-95D5-AE19F9585691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</a:t>
            </a:r>
          </a:p>
          <a:p>
            <a:pPr>
              <a:spcAft>
                <a:spcPts val="600"/>
              </a:spcAft>
            </a:pPr>
            <a:r>
              <a:rPr lang="fr-FR" sz="3600" dirty="0">
                <a:solidFill>
                  <a:srgbClr val="FFFFFF"/>
                </a:solidFill>
              </a:rPr>
              <a:t>Clustering Hiérarchique par CAH (Méthode Ward)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7FE033-F833-881E-69B5-DA50B7B8F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4B1394C-0196-9A36-CBC8-F4A6A3DEEC30}"/>
              </a:ext>
            </a:extLst>
          </p:cNvPr>
          <p:cNvSpPr txBox="1"/>
          <p:nvPr/>
        </p:nvSpPr>
        <p:spPr>
          <a:xfrm>
            <a:off x="4419478" y="605896"/>
            <a:ext cx="744931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1) Échantillonnage : </a:t>
            </a:r>
          </a:p>
          <a:p>
            <a:r>
              <a:rPr lang="fr-FR" sz="2400" dirty="0"/>
              <a:t>30% aléatoire pour reproductibilité</a:t>
            </a:r>
          </a:p>
          <a:p>
            <a:r>
              <a:rPr lang="fr-FR" sz="2400" b="1" dirty="0"/>
              <a:t>2) Nettoyage &amp; Standardisation : </a:t>
            </a:r>
          </a:p>
          <a:p>
            <a:r>
              <a:rPr lang="fr-FR" sz="2400" dirty="0"/>
              <a:t>remplissage des valeurs manquantes + </a:t>
            </a:r>
            <a:r>
              <a:rPr lang="fr-FR" sz="2400" dirty="0" err="1"/>
              <a:t>RobustScaler</a:t>
            </a:r>
            <a:endParaRPr lang="fr-FR" sz="2400" dirty="0"/>
          </a:p>
          <a:p>
            <a:r>
              <a:rPr lang="fr-FR" sz="2400" b="1" dirty="0"/>
              <a:t>«3) Réduction de dimension : </a:t>
            </a:r>
          </a:p>
          <a:p>
            <a:r>
              <a:rPr lang="fr-FR" sz="2400" dirty="0"/>
              <a:t>ACP (95% de variance conservée)</a:t>
            </a:r>
          </a:p>
          <a:p>
            <a:r>
              <a:rPr lang="fr-FR" sz="2400" b="1" dirty="0"/>
              <a:t>4) CAH : </a:t>
            </a:r>
          </a:p>
          <a:p>
            <a:r>
              <a:rPr lang="fr-FR" sz="2400" dirty="0"/>
              <a:t>linkage "</a:t>
            </a:r>
            <a:r>
              <a:rPr lang="fr-FR" sz="2400" dirty="0" err="1"/>
              <a:t>ward</a:t>
            </a:r>
            <a:r>
              <a:rPr lang="fr-FR" sz="2400" dirty="0"/>
              <a:t>" &amp; choix optimal de k via score silhouette</a:t>
            </a:r>
          </a:p>
          <a:p>
            <a:r>
              <a:rPr lang="fr-FR" sz="2400" b="1" dirty="0"/>
              <a:t>5) Visualisation : </a:t>
            </a:r>
          </a:p>
          <a:p>
            <a:r>
              <a:rPr lang="fr-FR" sz="2400" dirty="0"/>
              <a:t>dendrogramme, projection 2D (PC1-PC2), cercle des contributions</a:t>
            </a:r>
          </a:p>
          <a:p>
            <a:r>
              <a:rPr lang="fr-FR" sz="2400" b="1" dirty="0"/>
              <a:t>6) Export : </a:t>
            </a:r>
          </a:p>
          <a:p>
            <a:r>
              <a:rPr lang="fr-FR" sz="2400" dirty="0"/>
              <a:t>modèle et clusters sauvegardés (.</a:t>
            </a:r>
            <a:r>
              <a:rPr lang="fr-FR" sz="2400" dirty="0" err="1"/>
              <a:t>pkl</a:t>
            </a:r>
            <a:r>
              <a:rPr lang="fr-FR" sz="2400" dirty="0"/>
              <a:t> + .csv)</a:t>
            </a:r>
          </a:p>
          <a:p>
            <a:r>
              <a:rPr lang="fr-FR" sz="2400" b="1" dirty="0"/>
              <a:t>7) Analyse :</a:t>
            </a:r>
          </a:p>
          <a:p>
            <a:r>
              <a:rPr lang="fr-FR" sz="2400" b="1" dirty="0"/>
              <a:t> </a:t>
            </a:r>
            <a:r>
              <a:rPr lang="fr-FR" sz="2400" dirty="0"/>
              <a:t>taille des clusters + variables les plus discriminantes</a:t>
            </a:r>
          </a:p>
        </p:txBody>
      </p:sp>
    </p:spTree>
    <p:extLst>
      <p:ext uri="{BB962C8B-B14F-4D97-AF65-F5344CB8AC3E}">
        <p14:creationId xmlns:p14="http://schemas.microsoft.com/office/powerpoint/2010/main" val="21324316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5E508A-65D0-4BD2-65D6-447A30850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1051B5-B602-9B8B-F46E-7A37F07C1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213FA9-B465-CA64-9913-1CAE58473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A41EEC-0F1F-89EE-C68B-7028D9693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DFBC45D-BCCC-BB02-A654-A6591A0B2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EF235F-8275-4B7B-6648-A84048F19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C65DA27-DEA2-A276-D982-1CA4AA212F6B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 err="1">
                <a:solidFill>
                  <a:srgbClr val="FFFFFF"/>
                </a:solidFill>
              </a:rPr>
              <a:t>Autres</a:t>
            </a:r>
            <a:r>
              <a:rPr lang="en-US" sz="3600" noProof="0" dirty="0">
                <a:solidFill>
                  <a:srgbClr val="FFFFFF"/>
                </a:solidFill>
              </a:rPr>
              <a:t> segmentation</a:t>
            </a:r>
            <a:r>
              <a:rPr lang="en-US" sz="3600" dirty="0">
                <a:solidFill>
                  <a:srgbClr val="FFFFFF"/>
                </a:solidFill>
              </a:rPr>
              <a:t>s :</a:t>
            </a:r>
          </a:p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DB-Scan 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3E4247-6631-B962-BE8E-7C455FAA1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F44BE1F-C29F-71E7-7DC4-E6B7C991B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31357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29AD9578-6EAD-27C1-36B9-D63277A1A373}"/>
              </a:ext>
            </a:extLst>
          </p:cNvPr>
          <p:cNvCxnSpPr/>
          <p:nvPr/>
        </p:nvCxnSpPr>
        <p:spPr>
          <a:xfrm>
            <a:off x="862149" y="2076994"/>
            <a:ext cx="11194868" cy="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274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D07D27-D589-13F8-0E56-02F4EBC3F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6706E8-4817-D27C-5F54-1FC4E9670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303735-F1CF-7E39-C09E-CEE3600A2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C53722-91D8-0CCD-F053-01E8ABA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50F185B-162A-FF23-888B-EEF39BA16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5D5B32-4F14-A6F7-0087-3A5E9F0AF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DB9E56F-FEFC-7230-F148-9609D4FC3D9D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>
                <a:solidFill>
                  <a:srgbClr val="FFFFFF"/>
                </a:solidFill>
              </a:rPr>
              <a:t>Analyses des resultants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EBF4F9-9B6A-1BBE-6C54-AB94EBFE8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5F94DC6-5B48-7E22-FFF3-D552114C0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002" y="1070544"/>
            <a:ext cx="7433628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119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15ABCF-F29F-9A49-2DAE-6570D63F6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003FCD-4FA4-B110-F287-221477433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299FC3-A374-6668-CFA7-382446226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844C69-4933-5021-9152-669A7BA84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37858D-FC58-57FD-19F8-D0F430CF5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A5144D-29E4-B1A9-C3A6-9367D3ADA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27BC0F-5A2C-2619-EB0F-C55C381E9690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noProof="0" dirty="0">
                <a:solidFill>
                  <a:srgbClr val="FFFFFF"/>
                </a:solidFill>
              </a:rPr>
              <a:t>Analyses des resultants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6281C3-01B9-4A34-CD39-6558DC988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0C78A7-ABB2-04F8-306A-AD1447F2E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658" y="1116924"/>
            <a:ext cx="7212996" cy="462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9655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E63821-32C7-C4A6-3E49-E0909689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21955E-A80A-94AC-95EA-EA60FE2D0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EEB0F8-A7B6-FCCC-DE6C-4D8FA2B63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8927E5-5A63-762B-4568-6D4FC6B54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68BA888-C5BD-5403-B448-589B8AEA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B2430C-36D4-B630-B2FD-29040D2C9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64E66A0-E274-D63D-6F3B-F60A8868F56C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Contract de maintenance   </a:t>
            </a:r>
            <a:endParaRPr lang="en-US" sz="3600" noProof="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83A0F6-A016-AD3F-5E02-91C8379DA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CA3E910-10E8-A030-26FB-C74935EAFEBF}"/>
              </a:ext>
            </a:extLst>
          </p:cNvPr>
          <p:cNvSpPr txBox="1"/>
          <p:nvPr/>
        </p:nvSpPr>
        <p:spPr>
          <a:xfrm>
            <a:off x="4519749" y="457686"/>
            <a:ext cx="7103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Évaluation de la stabilité temporelle des clusters</a:t>
            </a:r>
          </a:p>
          <a:p>
            <a:r>
              <a:rPr lang="fr-FR" b="1" dirty="0"/>
              <a:t>✅ Objectif :</a:t>
            </a:r>
          </a:p>
          <a:p>
            <a:r>
              <a:rPr lang="fr-FR" dirty="0"/>
              <a:t>Mesurer </a:t>
            </a:r>
            <a:r>
              <a:rPr lang="fr-FR" b="1" dirty="0"/>
              <a:t>la cohérence des clusters</a:t>
            </a:r>
            <a:r>
              <a:rPr lang="fr-FR" dirty="0"/>
              <a:t> d’un mois à l’autre.</a:t>
            </a:r>
          </a:p>
          <a:p>
            <a:r>
              <a:rPr lang="fr-FR" b="1" dirty="0"/>
              <a:t>🔁 Méthodologie :</a:t>
            </a:r>
          </a:p>
          <a:p>
            <a:r>
              <a:rPr lang="fr-FR" dirty="0"/>
              <a:t>Comparaison des </a:t>
            </a:r>
            <a:r>
              <a:rPr lang="fr-FR" b="1" dirty="0"/>
              <a:t>segments clients</a:t>
            </a:r>
            <a:r>
              <a:rPr lang="fr-FR" dirty="0"/>
              <a:t> mois par mois.</a:t>
            </a:r>
          </a:p>
          <a:p>
            <a:r>
              <a:rPr lang="fr-FR" dirty="0"/>
              <a:t>Utilisation de l’</a:t>
            </a:r>
            <a:r>
              <a:rPr lang="fr-FR" b="1" dirty="0" err="1"/>
              <a:t>Adjusted</a:t>
            </a:r>
            <a:r>
              <a:rPr lang="fr-FR" b="1" dirty="0"/>
              <a:t> Rand Index (ARI)</a:t>
            </a:r>
            <a:r>
              <a:rPr lang="fr-FR" dirty="0"/>
              <a:t> :</a:t>
            </a:r>
          </a:p>
          <a:p>
            <a:pPr lvl="1"/>
            <a:r>
              <a:rPr lang="fr-FR" dirty="0"/>
              <a:t>Score entre -1 et 1 (1 = parfaite stabilité).</a:t>
            </a:r>
          </a:p>
          <a:p>
            <a:r>
              <a:rPr lang="fr-FR" dirty="0"/>
              <a:t>Visualisation de l’évolution </a:t>
            </a:r>
            <a:r>
              <a:rPr lang="fr-FR" b="1" dirty="0"/>
              <a:t>temporelle</a:t>
            </a:r>
            <a:r>
              <a:rPr lang="fr-FR" dirty="0"/>
              <a:t> de la stabilité.</a:t>
            </a:r>
          </a:p>
          <a:p>
            <a:r>
              <a:rPr lang="fr-FR" b="1" dirty="0"/>
              <a:t>📈 Résultat :</a:t>
            </a:r>
          </a:p>
          <a:p>
            <a:r>
              <a:rPr lang="fr-FR" dirty="0"/>
              <a:t>Graphe ARI par mois</a:t>
            </a:r>
          </a:p>
          <a:p>
            <a:r>
              <a:rPr lang="fr-FR" dirty="0"/>
              <a:t>Permet de détecter les </a:t>
            </a:r>
            <a:r>
              <a:rPr lang="fr-FR" b="1" dirty="0"/>
              <a:t>changements soudains</a:t>
            </a:r>
            <a:r>
              <a:rPr lang="fr-FR" dirty="0"/>
              <a:t> ou la </a:t>
            </a:r>
            <a:r>
              <a:rPr lang="fr-FR" b="1" dirty="0"/>
              <a:t>cohérence</a:t>
            </a:r>
            <a:r>
              <a:rPr lang="fr-FR" dirty="0"/>
              <a:t> dans la segmentation.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57267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56D2C-F8A6-0802-DE6F-0F1AD9277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6759CB6-BAA3-18CD-6EE9-5FE08021C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18B97B-D352-BC38-5BA7-ECC0A52B4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76C257-E5CB-00F8-928C-8F67D3C6D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B20244A-F240-B47C-D1B1-032A2C6AD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9D286C-E3A5-78C4-F33B-5781F3D76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6A28E59-6073-A398-898A-D85D1F7B2422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Contract de maintenance : </a:t>
            </a:r>
          </a:p>
          <a:p>
            <a:pPr>
              <a:spcAft>
                <a:spcPts val="600"/>
              </a:spcAft>
            </a:pPr>
            <a:r>
              <a:rPr lang="fr-FR" sz="3600" dirty="0">
                <a:solidFill>
                  <a:srgbClr val="FFFFFF"/>
                </a:solidFill>
              </a:rPr>
              <a:t>Évolution mensuelle de la stabilité des clusters (ARI)</a:t>
            </a:r>
            <a:r>
              <a:rPr lang="en-US" sz="3600" dirty="0">
                <a:solidFill>
                  <a:srgbClr val="FFFFFF"/>
                </a:solidFill>
              </a:rPr>
              <a:t> 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CB6697-1888-D47E-8A5C-0833B1C96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F3963B-F443-D10F-CC1C-7E5658B25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100" y="933546"/>
            <a:ext cx="786765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053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DF961B-45CB-F0A5-ECFC-CA08F77DF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40E73B0-F790-6B3C-B6C3-8E519F559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9C8961-0661-26F3-2B80-626F96692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98B297-E5E4-A1A2-8DAF-542F43572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388440A-DC54-8268-E459-418528C56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09F68C-40A3-CA26-4145-EABCE39C2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1844314-D955-E085-E6B2-3893DDE39BCA}"/>
              </a:ext>
            </a:extLst>
          </p:cNvPr>
          <p:cNvSpPr txBox="1">
            <a:spLocks/>
          </p:cNvSpPr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dirty="0">
                <a:solidFill>
                  <a:srgbClr val="FFFFFF"/>
                </a:solidFill>
              </a:rPr>
              <a:t>Contract de maintenance : </a:t>
            </a:r>
          </a:p>
          <a:p>
            <a:pPr>
              <a:spcAft>
                <a:spcPts val="600"/>
              </a:spcAft>
            </a:pPr>
            <a:r>
              <a:rPr lang="fr-FR" sz="3600" dirty="0">
                <a:solidFill>
                  <a:srgbClr val="FFFFFF"/>
                </a:solidFill>
              </a:rPr>
              <a:t>Évolution mensuelle de la stabilité des clusters (ARI)</a:t>
            </a:r>
            <a:r>
              <a:rPr lang="en-US" sz="3600" dirty="0">
                <a:solidFill>
                  <a:srgbClr val="FFFFFF"/>
                </a:solidFill>
              </a:rPr>
              <a:t> 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3D8D44-31D5-B50A-5903-608CF85C4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4EE4737-3019-86C2-3B84-DD5AD93A0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298" y="1177816"/>
            <a:ext cx="7391254" cy="450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944532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99286</TotalTime>
  <Words>1727</Words>
  <Application>Microsoft Office PowerPoint</Application>
  <PresentationFormat>Grand écran</PresentationFormat>
  <Paragraphs>291</Paragraphs>
  <Slides>42</Slides>
  <Notes>42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42</vt:i4>
      </vt:variant>
    </vt:vector>
  </HeadingPairs>
  <TitlesOfParts>
    <vt:vector size="55" baseType="lpstr">
      <vt:lpstr>Aptos</vt:lpstr>
      <vt:lpstr>Aptos Display</vt:lpstr>
      <vt:lpstr>Arial</vt:lpstr>
      <vt:lpstr>Calibri</vt:lpstr>
      <vt:lpstr>Calibri Light</vt:lpstr>
      <vt:lpstr>Courier New</vt:lpstr>
      <vt:lpstr>DeepSeek-CJK-patch</vt:lpstr>
      <vt:lpstr>Helvetica Neue</vt:lpstr>
      <vt:lpstr>Inter</vt:lpstr>
      <vt:lpstr>Symbol</vt:lpstr>
      <vt:lpstr>Wingdings</vt:lpstr>
      <vt:lpstr>Rétrospective</vt:lpstr>
      <vt:lpstr>Conception personnalisée</vt:lpstr>
      <vt:lpstr>Projet 5:Segmentez des clients d'un site e-commerce </vt:lpstr>
      <vt:lpstr>Sommaire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amine attig</dc:creator>
  <cp:lastModifiedBy>Marion Sol</cp:lastModifiedBy>
  <cp:revision>4</cp:revision>
  <dcterms:created xsi:type="dcterms:W3CDTF">2024-07-27T13:56:50Z</dcterms:created>
  <dcterms:modified xsi:type="dcterms:W3CDTF">2025-06-09T17:01:24Z</dcterms:modified>
</cp:coreProperties>
</file>